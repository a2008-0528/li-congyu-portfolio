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0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年度可避免食材支出</c:f>
              <c:strCache>
                <c:ptCount val="1"/>
                <c:pt idx="0">
                  <c:v>年度可避免食材支出</c:v>
                </c:pt>
              </c:strCache>
            </c:strRef>
          </c:tx>
          <c:spPr>
            <a:solidFill>
              <a:srgbClr val="23644D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Data'!$A$2:$A$4</c:f>
              <c:strCache>
                <c:ptCount val="3"/>
                <c:pt idx="0">
                  <c:v>改善0.5%</c:v>
                </c:pt>
                <c:pt idx="1">
                  <c:v>改善1.0%</c:v>
                </c:pt>
                <c:pt idx="2">
                  <c:v>改善1.5%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3.9</c:v>
                </c:pt>
                <c:pt idx="1">
                  <c:v>7.8</c:v>
                </c:pt>
                <c:pt idx="2">
                  <c:v>11.7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8DDD1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575" b="0" i="0" u="none" strike="noStrike" kern="1200" baseline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5"/>
          <c:min val="0"/>
        </c:scaling>
        <c:delete val="0"/>
        <c:axPos val="l"/>
        <c:majorGridlines>
          <c:spPr>
            <a:ln w="9525">
              <a:solidFill>
                <a:srgbClr val="D8DDD1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350" b="0" i="0" u="none" strike="noStrike" kern="1200" baseline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c:txPr>
        <c:crossAx val="48650112"/>
        <c:crosses val="autoZero"/>
        <c:crossBetween val="between"/>
        <c:majorUnit val="5"/>
      </c:valAx>
      <c:spPr>
        <a:solidFill>
          <a:srgbClr val="F4F1E8"/>
        </a:solidFill>
      </c:spPr>
    </c:plotArea>
    <c:plotVisOnly val="1"/>
    <c:dispBlanksAs val="gap"/>
    <c:showDLblsOverMax val="0"/>
    <c:extLst>
      <c:ext uri="{0b15fc19-7d7d-44ad-8c2d-2c3a37ce22c3}">
        <chartProps xmlns="https://web.wps.cn/et/2018/main" chartId="{ff931752-96c5-4112-9d85-1ce585705ab3}"/>
      </c:ext>
    </c:extLst>
  </c:chart>
  <c:spPr>
    <a:solidFill>
      <a:srgbClr val="F4F1E8"/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评委好，我们的项目是禾衡，面向高校食堂提供智能减损服务。项目拟把售餐记录、备餐数量和餐后称重数据结合起来，为下一餐提供备餐建议。当前以创意阶段方案呈现，团队与成果信息可替换为参赛项目的真实材料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  <a:p/>
          <a:p>
            <a:r>
              <a:t>资料来源：封面图片：内置图片生成工具，提示词见 output/assets/visual-prompt.txt。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把需求聚焦到备餐决策：厨师长每天需要决定每道菜做多少。初步假设是，客流与菜品偏好变化会让经验判断失准，而厨余总量又不足以解释原因。正式参赛时，这一页应替换成访谈原话、现场照片以及真实的餐次数据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政策把学校食堂的采购、供餐和用餐分析连在一起。我们据此选择高校食堂作为首个场景，但政策支持并不等于存在付费需求。项目仍需验证食堂是否愿意提供数据、接受试点，以及是否认可节约收益。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  <a:p/>
          <a:p>
            <a:r>
              <a:t>资料来源：中共中央办公厅、国务院办公厅《粮食节约和反食品浪费行动方案》，2024-11-26，https://www.mee.gov.cn/zcwj/zyygwj/202411/t20241126_1096798.shtml ，第五部分第（十二）项。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产品拟覆盖四个环节。先记录本餐，再区分未售剩餐与餐后残余，随后给出下一餐的备餐区间，最后由厨师长确认执行并核对结果。餐后残余用于分析份量和口味，未售剩餐直接反映备餐偏差，两类数据不能混用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技术上先做简单可靠的基线，例如同星期、同餐次的历史均值。积累足够数据后，再比较树模型是否降低预测误差。图像识别只辅助食物类别标注，不能把图片直接估重当作核心证据。称重、人工复核和日志追溯保证数据可用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禾衡的差异化是假设：把剩餐记录与备餐建议连接起来。我们不声称所有售餐系统都缺少这些能力，正式比较应选择具体产品核对。竞争力最终取决于接入成本、现场工作量，以及在同一场景下是否带来可以证明的收益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轮先进入一个食堂，选择十道高频菜品，避免一开始跨校扩张。调研要确认谁使用、谁决定采购、谁受益，并查看可追溯的原始数据。计划访问至少十二位运营人员，收集至少六十份学生反馈，这些都是尚未执行的样本目标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不以单一的剩餐下降证明成功，减少备餐也可能让学生吃不到想要的菜。试点同时关注每百份未售剩餐量、缺餐率、预测误差和额外操作时间。指标以相近星期和菜品进行对照，记录菜单、校历、天气变化。WAPE为绝对误差总和除以实际销量总和。15%的改善是目标，不是已有结果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拟定收入来自年度服务费和一次性部署费。按每食堂每年二点四万元的服务费测算，新增部署收取零点六万元。实际采购可能由学校或食堂承包运营方决定，试点前必须明确权限。当前没有签约客户，也没有验证上述价格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市场策略以交付能力约束扩张。先完成样板食堂，再通过同一运营方复制到相似食堂，降低接入与培训成本。首年五个付费食堂是经营目标，不是签约事实。我们暂不把全国高校数量直接乘以价格作为可获得市场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为纯情景测算。假设食堂每日六千餐，每年二百六十天，每餐食材成本五元，则年度食材支出七百八十万元。若采购端可避免支出改善百分之一，对应七点八万元，不能直接由餐后残余重量折算得到。客户首年支付三万元，仍需另外考虑操作人员工时与接入成本。模型用于讨论付费意愿，不代表实际收益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为了展示成本逻辑的经营情景，不是业绩预测或融资承诺。服务费每食堂每年二点四万元，新部署费零点六万元；年度服务直接成本零点七二万元，新增硬件与安装零点四五万元。按全年计费且零流失简化，第1至3年计费食堂数为五、二十、五十。第三年收入一百三十八万元，直接成本四十九点五万元，期间费用八十万元，税前经营结果八点五万元。实际新签时间会影响收入，需按合同重算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保留真实姓名和经历的替换位置。项目需要把学生的专业能力落到交付物上：产品研究给出可验证需求，算法成员证明相对基线的改善，工程成员解决部署可靠性，运营成员验证成本与采购路径。指导教师、专业背景、分工成果和成长记录应以真实材料补充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计划用十二周完成一次可判断成败的验证。前两周确认需求与授权，三到五周接入称重和台账，六到九周连续采集并试用建议，最后三周核验效果与采购意愿。若数据覆盖不足或扰乱现场工作，应延长观察或调整方案，不以时间到期代替验收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社会价值以实际减少的未售剩餐和改善的供餐效率衡量，不随意把重量换算成碳减排。项目拟不采集人脸与个人就餐身份，以餐次汇总数据完成分析。现场的识别误差、操作负担和数据中断均需有人工退路，并由食堂确认后执行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们希望获得一个试点食堂、十二周的现场验证机会，以及二十万元的阶段性支持。拟定预算为研发十万元、设备四万元、试点四万元、预备金二万元。本轮核心交付是可运行原型、可追溯数据、试点报告与采购反馈。正式参赛时，应把申请资源改为项目真正需要的支持，并补充联系方式。</a:t>
            </a:r>
          </a:p>
          <a:p/>
          <a:p>
            <a:r>
              <a:t>项目状态：概念路演示例。除明确引述的政策外，产品能力、人员配置、客户数量、价格、财务和效果均为拟定方案、目标或测算假设，不代表已实现成果。</a:t>
            </a:r>
          </a:p>
          <a:p/>
          <a:p>
            <a:r>
              <a:t>资料来源：背景：内置图片生成工具生成的概念视觉，非真实样机。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1"/>
          <p:cNvSpPr>
            <a:spLocks noGrp="1"/>
          </p:cNvSpPr>
          <p:nvPr/>
        </p:nvSpPr>
        <p:spPr>
          <a:xfrm>
            <a:off x="685800" y="552450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中国国际大学生创新大赛</a:t>
            </a:r>
            <a:endParaRPr sz="1800" b="0">
              <a:solidFill>
                <a:srgbClr val="F4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-2"/>
          <p:cNvSpPr>
            <a:spLocks noGrp="1"/>
          </p:cNvSpPr>
          <p:nvPr/>
        </p:nvSpPr>
        <p:spPr>
          <a:xfrm>
            <a:off x="685800" y="1905000"/>
            <a:ext cx="57150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7800" b="0">
                <a:solidFill>
                  <a:srgbClr val="FFFFFF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7800" b="0">
                <a:solidFill>
                  <a:srgbClr val="FFFFFF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7800" b="0">
                <a:solidFill>
                  <a:srgbClr val="FFFFFF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禾衡</a:t>
            </a:r>
            <a:endParaRPr sz="7800" b="0">
              <a:solidFill>
                <a:srgbClr val="FFFFFF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4" name="text-3"/>
          <p:cNvSpPr>
            <a:spLocks noGrp="1"/>
          </p:cNvSpPr>
          <p:nvPr/>
        </p:nvSpPr>
        <p:spPr>
          <a:xfrm>
            <a:off x="742950" y="3238500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高校食堂智能减损助手</a:t>
            </a:r>
            <a:endParaRPr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4"/>
          <p:cNvSpPr>
            <a:spLocks noGrp="1"/>
          </p:cNvSpPr>
          <p:nvPr/>
        </p:nvSpPr>
        <p:spPr>
          <a:xfrm>
            <a:off x="742950" y="3943350"/>
            <a:ext cx="5905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0">
                <a:solidFill>
                  <a:srgbClr val="D0DD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0">
                <a:solidFill>
                  <a:srgbClr val="D0DD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D0DD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用餐次数据，辅助按需备餐</a:t>
            </a:r>
            <a:endParaRPr sz="2025" b="0">
              <a:solidFill>
                <a:srgbClr val="D0DD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"/>
          <p:cNvSpPr>
            <a:spLocks noGrp="1"/>
          </p:cNvSpPr>
          <p:nvPr/>
        </p:nvSpPr>
        <p:spPr>
          <a:xfrm>
            <a:off x="742950" y="5286375"/>
            <a:ext cx="6477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425" b="0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项目路演示例  /  内容可替换</a:t>
            </a:r>
            <a:endParaRPr sz="1425" b="0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6"/>
          <p:cNvSpPr>
            <a:spLocks noGrp="1"/>
          </p:cNvSpPr>
          <p:nvPr/>
        </p:nvSpPr>
        <p:spPr>
          <a:xfrm>
            <a:off x="742950" y="5753100"/>
            <a:ext cx="6762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425" b="0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425" b="0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参赛学校［填写］    负责人［填写］</a:t>
            </a:r>
            <a:endParaRPr sz="1425" b="0">
              <a:solidFill>
                <a:srgbClr val="F4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"/>
          <p:cNvSpPr>
            <a:spLocks noGrp="1"/>
          </p:cNvSpPr>
          <p:nvPr/>
        </p:nvSpPr>
        <p:spPr>
          <a:xfrm>
            <a:off x="10477500" y="6400800"/>
            <a:ext cx="95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050" b="0">
                <a:solidFill>
                  <a:srgbClr val="C3D2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050" b="0">
                <a:solidFill>
                  <a:srgbClr val="C3D2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C3D2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概念视觉</a:t>
            </a:r>
            <a:endParaRPr sz="1050" b="0">
              <a:solidFill>
                <a:srgbClr val="C3D2C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-8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需求与问题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9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食堂需要知道：哪道菜、哪一餐、剩了多少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10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1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2"/>
          <p:cNvSpPr>
            <a:spLocks noGrp="1"/>
          </p:cNvSpPr>
          <p:nvPr/>
        </p:nvSpPr>
        <p:spPr>
          <a:xfrm>
            <a:off x="685800" y="2143125"/>
            <a:ext cx="4381500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20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420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420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备多了会剩</a:t>
            </a:r>
            <a:endParaRPr sz="420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  <a:p>
            <a:pPr algn="l">
              <a:buNone/>
              <a:defRPr sz="420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420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备少了会缺</a:t>
            </a:r>
            <a:endParaRPr sz="420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6" name="text-13"/>
          <p:cNvSpPr>
            <a:spLocks noGrp="1"/>
          </p:cNvSpPr>
          <p:nvPr/>
        </p:nvSpPr>
        <p:spPr>
          <a:xfrm>
            <a:off x="723900" y="4191000"/>
            <a:ext cx="4381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72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72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访谈待验证的核心矛盾</a:t>
            </a:r>
            <a:endParaRPr sz="172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4"/>
          <p:cNvSpPr>
            <a:spLocks noGrp="1"/>
          </p:cNvSpPr>
          <p:nvPr/>
        </p:nvSpPr>
        <p:spPr>
          <a:xfrm>
            <a:off x="723900" y="4676775"/>
            <a:ext cx="4572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经验判断难以解释节假日、天气和</a:t>
            </a:r>
            <a:endParaRPr sz="19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菜品偏好带来的用餐变化。</a:t>
            </a:r>
            <a:endParaRPr sz="19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5"/>
          <p:cNvSpPr>
            <a:spLocks noGrp="1"/>
          </p:cNvSpPr>
          <p:nvPr/>
        </p:nvSpPr>
        <p:spPr>
          <a:xfrm>
            <a:off x="6191250" y="2076450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7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6"/>
          <p:cNvSpPr>
            <a:spLocks noGrp="1"/>
          </p:cNvSpPr>
          <p:nvPr/>
        </p:nvSpPr>
        <p:spPr>
          <a:xfrm>
            <a:off x="7000875" y="2076450"/>
            <a:ext cx="45053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备餐数量缺少稳定依据</a:t>
            </a:r>
            <a:endParaRPr sz="217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17"/>
          <p:cNvSpPr>
            <a:spLocks noGrp="1"/>
          </p:cNvSpPr>
          <p:nvPr/>
        </p:nvSpPr>
        <p:spPr>
          <a:xfrm>
            <a:off x="7000875" y="2647950"/>
            <a:ext cx="450532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客流波动与菜品销量分散在不同记录中。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18"/>
          <p:cNvSpPr>
            <a:spLocks noGrp="1"/>
          </p:cNvSpPr>
          <p:nvPr/>
        </p:nvSpPr>
        <p:spPr>
          <a:xfrm>
            <a:off x="6191250" y="3838575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7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19"/>
          <p:cNvSpPr>
            <a:spLocks noGrp="1"/>
          </p:cNvSpPr>
          <p:nvPr/>
        </p:nvSpPr>
        <p:spPr>
          <a:xfrm>
            <a:off x="7000875" y="3838575"/>
            <a:ext cx="45053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厨余总量难以定位原因</a:t>
            </a:r>
            <a:endParaRPr sz="217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-20"/>
          <p:cNvSpPr>
            <a:spLocks noGrp="1"/>
          </p:cNvSpPr>
          <p:nvPr/>
        </p:nvSpPr>
        <p:spPr>
          <a:xfrm>
            <a:off x="7000875" y="4410075"/>
            <a:ext cx="450532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总重量不能直接说明哪道菜需要调整。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-21"/>
          <p:cNvSpPr>
            <a:spLocks noGrp="1"/>
          </p:cNvSpPr>
          <p:nvPr/>
        </p:nvSpPr>
        <p:spPr>
          <a:xfrm>
            <a:off x="685800" y="5905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待验证假设：以上痛点需通过食堂访谈、现场观察和原始记录确认</a:t>
            </a:r>
            <a:endParaRPr sz="13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22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机会与切入点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23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学校食堂的按需供餐已有明确政策方向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24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25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6"/>
          <p:cNvSpPr>
            <a:spLocks noGrp="1"/>
          </p:cNvSpPr>
          <p:nvPr/>
        </p:nvSpPr>
        <p:spPr>
          <a:xfrm>
            <a:off x="685800" y="2143125"/>
            <a:ext cx="552450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950" b="0">
                <a:solidFill>
                  <a:srgbClr val="23644D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4950" b="0">
                <a:solidFill>
                  <a:srgbClr val="23644D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4950" b="0">
                <a:solidFill>
                  <a:srgbClr val="23644D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按需供餐</a:t>
            </a:r>
            <a:endParaRPr sz="4950" b="0">
              <a:solidFill>
                <a:srgbClr val="23644D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6" name="text-27"/>
          <p:cNvSpPr>
            <a:spLocks noGrp="1"/>
          </p:cNvSpPr>
          <p:nvPr/>
        </p:nvSpPr>
        <p:spPr>
          <a:xfrm>
            <a:off x="723900" y="3333750"/>
            <a:ext cx="69532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25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2024年《粮食节约和反食品浪费行动方案》</a:t>
            </a:r>
            <a:endParaRPr sz="2250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25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提出监测、分析和评估学校用餐情况，</a:t>
            </a:r>
            <a:endParaRPr sz="2250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25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推动计划生产、按需供餐。</a:t>
            </a:r>
            <a:endParaRPr sz="2250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28"/>
          <p:cNvSpPr>
            <a:spLocks noGrp="1"/>
          </p:cNvSpPr>
          <p:nvPr/>
        </p:nvSpPr>
        <p:spPr>
          <a:xfrm>
            <a:off x="8572500" y="2305050"/>
            <a:ext cx="2952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高校食堂</a:t>
            </a:r>
            <a:endParaRPr sz="277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29"/>
          <p:cNvSpPr>
            <a:spLocks noGrp="1"/>
          </p:cNvSpPr>
          <p:nvPr/>
        </p:nvSpPr>
        <p:spPr>
          <a:xfrm>
            <a:off x="8572500" y="3095625"/>
            <a:ext cx="2952750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首个目标场景</a:t>
            </a:r>
            <a:endParaRPr sz="1875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875"/>
          </a:p>
          <a:p>
            <a:pPr algn="l">
              <a:buNone/>
              <a:def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固定就餐群体</a:t>
            </a:r>
            <a:endParaRPr sz="1875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餐次记录较集中</a:t>
            </a:r>
            <a:endParaRPr sz="1875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适合连续观察</a:t>
            </a:r>
            <a:endParaRPr sz="1875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30"/>
          <p:cNvSpPr>
            <a:spLocks noGrp="1"/>
          </p:cNvSpPr>
          <p:nvPr/>
        </p:nvSpPr>
        <p:spPr>
          <a:xfrm>
            <a:off x="685800" y="5905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政策依据：行动方案第五部分第（十二）项；政策方向不等同于采购意向</a:t>
            </a:r>
            <a:endParaRPr sz="13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ext-31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产品方案</a:t>
            </a:r>
            <a:endParaRPr sz="1275" b="1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32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F4F1E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F4F1E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F4F1E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每个餐次形成一份可追溯的备餐建议</a:t>
            </a:r>
            <a:endParaRPr sz="3150" b="0">
              <a:solidFill>
                <a:srgbClr val="F4F1E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33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A6BF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A6BF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6BF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A6BFB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34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200" b="0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35"/>
          <p:cNvSpPr>
            <a:spLocks noGrp="1"/>
          </p:cNvSpPr>
          <p:nvPr/>
        </p:nvSpPr>
        <p:spPr>
          <a:xfrm>
            <a:off x="685800" y="2095500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700" b="1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36"/>
          <p:cNvSpPr>
            <a:spLocks noGrp="1"/>
          </p:cNvSpPr>
          <p:nvPr/>
        </p:nvSpPr>
        <p:spPr>
          <a:xfrm>
            <a:off x="1495425" y="2095500"/>
            <a:ext cx="42576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记录这一餐</a:t>
            </a:r>
            <a:endParaRPr sz="2175" b="1">
              <a:solidFill>
                <a:srgbClr val="F4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37"/>
          <p:cNvSpPr>
            <a:spLocks noGrp="1"/>
          </p:cNvSpPr>
          <p:nvPr/>
        </p:nvSpPr>
        <p:spPr>
          <a:xfrm>
            <a:off x="1495425" y="2667000"/>
            <a:ext cx="42576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导入销量与备餐量</a:t>
            </a:r>
            <a:endParaRPr sz="180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登记菜品、餐次和时间</a:t>
            </a:r>
            <a:endParaRPr sz="180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38"/>
          <p:cNvSpPr>
            <a:spLocks noGrp="1"/>
          </p:cNvSpPr>
          <p:nvPr/>
        </p:nvSpPr>
        <p:spPr>
          <a:xfrm>
            <a:off x="6400800" y="2095500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700" b="1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39"/>
          <p:cNvSpPr>
            <a:spLocks noGrp="1"/>
          </p:cNvSpPr>
          <p:nvPr/>
        </p:nvSpPr>
        <p:spPr>
          <a:xfrm>
            <a:off x="7210425" y="2095500"/>
            <a:ext cx="42957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识别剩余来自哪里</a:t>
            </a:r>
            <a:endParaRPr sz="2175" b="1">
              <a:solidFill>
                <a:srgbClr val="F4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40"/>
          <p:cNvSpPr>
            <a:spLocks noGrp="1"/>
          </p:cNvSpPr>
          <p:nvPr/>
        </p:nvSpPr>
        <p:spPr>
          <a:xfrm>
            <a:off x="7210425" y="2667000"/>
            <a:ext cx="42957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区分未售剩餐与餐后残余</a:t>
            </a:r>
            <a:endParaRPr sz="180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分别称重、记录并抽样</a:t>
            </a:r>
            <a:endParaRPr sz="180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41"/>
          <p:cNvSpPr>
            <a:spLocks noGrp="1"/>
          </p:cNvSpPr>
          <p:nvPr/>
        </p:nvSpPr>
        <p:spPr>
          <a:xfrm>
            <a:off x="685800" y="4048125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700" b="1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42"/>
          <p:cNvSpPr>
            <a:spLocks noGrp="1"/>
          </p:cNvSpPr>
          <p:nvPr/>
        </p:nvSpPr>
        <p:spPr>
          <a:xfrm>
            <a:off x="1495425" y="4048125"/>
            <a:ext cx="42576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建议下一餐做多少</a:t>
            </a:r>
            <a:endParaRPr sz="2175" b="1">
              <a:solidFill>
                <a:srgbClr val="F4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-43"/>
          <p:cNvSpPr>
            <a:spLocks noGrp="1"/>
          </p:cNvSpPr>
          <p:nvPr/>
        </p:nvSpPr>
        <p:spPr>
          <a:xfrm>
            <a:off x="1495425" y="4619625"/>
            <a:ext cx="42576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输出菜品备餐区间</a:t>
            </a:r>
            <a:endParaRPr sz="180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展示预测依据与异常提示</a:t>
            </a:r>
            <a:endParaRPr sz="180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-44"/>
          <p:cNvSpPr>
            <a:spLocks noGrp="1"/>
          </p:cNvSpPr>
          <p:nvPr/>
        </p:nvSpPr>
        <p:spPr>
          <a:xfrm>
            <a:off x="6400800" y="4048125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700" b="1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-45"/>
          <p:cNvSpPr>
            <a:spLocks noGrp="1"/>
          </p:cNvSpPr>
          <p:nvPr/>
        </p:nvSpPr>
        <p:spPr>
          <a:xfrm>
            <a:off x="7210425" y="4048125"/>
            <a:ext cx="42957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核对实际执行效果</a:t>
            </a:r>
            <a:endParaRPr sz="2175" b="1">
              <a:solidFill>
                <a:srgbClr val="F4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-46"/>
          <p:cNvSpPr>
            <a:spLocks noGrp="1"/>
          </p:cNvSpPr>
          <p:nvPr/>
        </p:nvSpPr>
        <p:spPr>
          <a:xfrm>
            <a:off x="7210425" y="4619625"/>
            <a:ext cx="42957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厨师长确认建议</a:t>
            </a:r>
            <a:endParaRPr sz="180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记录执行量与缺餐情况</a:t>
            </a:r>
            <a:endParaRPr sz="180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ext-47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技术路线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48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先建立可靠基线，再验证算法增益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49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0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1"/>
          <p:cNvSpPr>
            <a:spLocks noGrp="1"/>
          </p:cNvSpPr>
          <p:nvPr/>
        </p:nvSpPr>
        <p:spPr>
          <a:xfrm>
            <a:off x="685800" y="2124075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4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数据输入</a:t>
            </a:r>
            <a:endParaRPr sz="24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52"/>
          <p:cNvSpPr>
            <a:spLocks noGrp="1"/>
          </p:cNvSpPr>
          <p:nvPr/>
        </p:nvSpPr>
        <p:spPr>
          <a:xfrm>
            <a:off x="685800" y="2857500"/>
            <a:ext cx="323850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餐次与菜品销量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备餐量、未售剩餐量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校历与天气等因素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53"/>
          <p:cNvSpPr>
            <a:spLocks noGrp="1"/>
          </p:cNvSpPr>
          <p:nvPr/>
        </p:nvSpPr>
        <p:spPr>
          <a:xfrm>
            <a:off x="4495800" y="2124075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4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预测与建议</a:t>
            </a:r>
            <a:endParaRPr sz="24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54"/>
          <p:cNvSpPr>
            <a:spLocks noGrp="1"/>
          </p:cNvSpPr>
          <p:nvPr/>
        </p:nvSpPr>
        <p:spPr>
          <a:xfrm>
            <a:off x="4495800" y="2857500"/>
            <a:ext cx="323850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对照：同星期历史均值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候选：树模型需求预测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输出：备餐区间与解释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55"/>
          <p:cNvSpPr>
            <a:spLocks noGrp="1"/>
          </p:cNvSpPr>
          <p:nvPr/>
        </p:nvSpPr>
        <p:spPr>
          <a:xfrm>
            <a:off x="8305800" y="2124075"/>
            <a:ext cx="32004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4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现场核验</a:t>
            </a:r>
            <a:endParaRPr sz="24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56"/>
          <p:cNvSpPr>
            <a:spLocks noGrp="1"/>
          </p:cNvSpPr>
          <p:nvPr/>
        </p:nvSpPr>
        <p:spPr>
          <a:xfrm>
            <a:off x="8305800" y="2857500"/>
            <a:ext cx="3200400" cy="1571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电子秤定期校准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识别低置信度时复核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缺失数据触发人工方案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57"/>
          <p:cNvSpPr>
            <a:spLocks noGrp="1"/>
          </p:cNvSpPr>
          <p:nvPr/>
        </p:nvSpPr>
        <p:spPr>
          <a:xfrm>
            <a:off x="685800" y="50482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250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图像识别仅辅助食物类别标注，重量以校准称重为准</a:t>
            </a:r>
            <a:endParaRPr sz="2250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58"/>
          <p:cNvSpPr>
            <a:spLocks noGrp="1"/>
          </p:cNvSpPr>
          <p:nvPr/>
        </p:nvSpPr>
        <p:spPr>
          <a:xfrm>
            <a:off x="685800" y="5905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拟研发路线；尚未训练模型、完成准确率测试或获得知识产权</a:t>
            </a:r>
            <a:endParaRPr sz="13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59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 替代方案比较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0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差异化假设：把剩餐记录用于下一餐决策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61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2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85800" y="2095500"/>
          <a:ext cx="10820400" cy="3143250"/>
        </p:xfrm>
        <a:graphic>
          <a:graphicData uri="http://schemas.openxmlformats.org/drawingml/2006/table">
            <a:tbl>
              <a:tblPr/>
              <a:tblGrid>
                <a:gridCol w="2000250"/>
                <a:gridCol w="2857500"/>
                <a:gridCol w="2857500"/>
                <a:gridCol w="3105150"/>
              </a:tblGrid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比较维度</a:t>
                      </a:r>
                      <a:endParaRPr sz="165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人工台账</a:t>
                      </a:r>
                      <a:endParaRPr sz="165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通用售餐系统</a:t>
                      </a:r>
                      <a:endParaRPr sz="165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禾衡拟实现</a:t>
                      </a:r>
                      <a:endParaRPr sz="165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主要记录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人工汇总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交易与销量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销量与剩餐关联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备餐建议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依赖管理经验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取决于具体产品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输出区间并留痕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效果核对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需另行整理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需核对现有模块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餐次对照与复盘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主要代价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持续投入人力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集成与配置成本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采集与现场交付成本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</a:tr>
            </a:tbl>
          </a:graphicData>
        </a:graphic>
      </p:graphicFrame>
      <p:sp>
        <p:nvSpPr>
          <p:cNvPr id="6" name="text-63"/>
          <p:cNvSpPr>
            <a:spLocks noGrp="1"/>
          </p:cNvSpPr>
          <p:nvPr/>
        </p:nvSpPr>
        <p:spPr>
          <a:xfrm>
            <a:off x="685800" y="5905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基于功能类别的方案比较；具体竞品功能、价格与实施成本仍需逐项调研</a:t>
            </a:r>
            <a:endParaRPr sz="13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-64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 调研与试点计划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65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首轮验证聚焦一个食堂的真实工作流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66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67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68"/>
          <p:cNvSpPr>
            <a:spLocks noGrp="1"/>
          </p:cNvSpPr>
          <p:nvPr/>
        </p:nvSpPr>
        <p:spPr>
          <a:xfrm>
            <a:off x="685800" y="2047875"/>
            <a:ext cx="29527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250" b="0">
                <a:solidFill>
                  <a:srgbClr val="23644D"/>
                </a:solidFill>
                <a:latin typeface="Bahnschrift" panose="020B0502040204020203"/>
                <a:ea typeface="Bahnschrift" panose="020B0502040204020203"/>
                <a:cs typeface="Bahnschrift" panose="020B0502040204020203"/>
              </a:defRPr>
            </a:defPPr>
          </a:lstStyle>
          <a:p>
            <a:pPr algn="l">
              <a:buNone/>
              <a:defRPr sz="8250" b="0">
                <a:solidFill>
                  <a:srgbClr val="23644D"/>
                </a:solidFill>
                <a:latin typeface="Bahnschrift" panose="020B0502040204020203"/>
                <a:ea typeface="Bahnschrift" panose="020B0502040204020203"/>
                <a:cs typeface="Bahnschrift" panose="020B0502040204020203"/>
              </a:defRPr>
            </a:pPr>
            <a:r>
              <a:rPr sz="8250" b="0">
                <a:solidFill>
                  <a:srgbClr val="23644D"/>
                </a:solidFill>
                <a:latin typeface="Bahnschrift" panose="020B0502040204020203"/>
                <a:ea typeface="Bahnschrift" panose="020B0502040204020203"/>
                <a:cs typeface="Bahnschrift" panose="020B0502040204020203"/>
              </a:rPr>
              <a:t>1</a:t>
            </a:r>
            <a:endParaRPr sz="8250" b="0">
              <a:solidFill>
                <a:srgbClr val="23644D"/>
              </a:solidFill>
              <a:latin typeface="Bahnschrift" panose="020B0502040204020203"/>
              <a:ea typeface="Bahnschrift" panose="020B0502040204020203"/>
              <a:cs typeface="Bahnschrift" panose="020B0502040204020203"/>
            </a:endParaRPr>
          </a:p>
        </p:txBody>
      </p:sp>
      <p:sp>
        <p:nvSpPr>
          <p:cNvPr id="6" name="text-69"/>
          <p:cNvSpPr>
            <a:spLocks noGrp="1"/>
          </p:cNvSpPr>
          <p:nvPr/>
        </p:nvSpPr>
        <p:spPr>
          <a:xfrm>
            <a:off x="723900" y="3476625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3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所高校的单一食堂</a:t>
            </a:r>
            <a:endParaRPr sz="232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70"/>
          <p:cNvSpPr>
            <a:spLocks noGrp="1"/>
          </p:cNvSpPr>
          <p:nvPr/>
        </p:nvSpPr>
        <p:spPr>
          <a:xfrm>
            <a:off x="723900" y="4210050"/>
            <a:ext cx="44767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拟选10道高频菜品</a:t>
            </a:r>
            <a:endParaRPr sz="2025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连续跟踪午餐与晚餐</a:t>
            </a:r>
            <a:endParaRPr sz="2025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71"/>
          <p:cNvSpPr>
            <a:spLocks noGrp="1"/>
          </p:cNvSpPr>
          <p:nvPr/>
        </p:nvSpPr>
        <p:spPr>
          <a:xfrm>
            <a:off x="6096000" y="2076450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7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72"/>
          <p:cNvSpPr>
            <a:spLocks noGrp="1"/>
          </p:cNvSpPr>
          <p:nvPr/>
        </p:nvSpPr>
        <p:spPr>
          <a:xfrm>
            <a:off x="6905625" y="2076450"/>
            <a:ext cx="46005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确认使用与付费决策人</a:t>
            </a:r>
            <a:endParaRPr sz="217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73"/>
          <p:cNvSpPr>
            <a:spLocks noGrp="1"/>
          </p:cNvSpPr>
          <p:nvPr/>
        </p:nvSpPr>
        <p:spPr>
          <a:xfrm>
            <a:off x="6905625" y="2647950"/>
            <a:ext cx="46005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访谈后勤、食堂经理、厨师长及一线操作员。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74"/>
          <p:cNvSpPr>
            <a:spLocks noGrp="1"/>
          </p:cNvSpPr>
          <p:nvPr/>
        </p:nvSpPr>
        <p:spPr>
          <a:xfrm>
            <a:off x="6096000" y="3790950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7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75"/>
          <p:cNvSpPr>
            <a:spLocks noGrp="1"/>
          </p:cNvSpPr>
          <p:nvPr/>
        </p:nvSpPr>
        <p:spPr>
          <a:xfrm>
            <a:off x="6905625" y="3790950"/>
            <a:ext cx="46005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取得可用的原始记录</a:t>
            </a:r>
            <a:endParaRPr sz="217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-76"/>
          <p:cNvSpPr>
            <a:spLocks noGrp="1"/>
          </p:cNvSpPr>
          <p:nvPr/>
        </p:nvSpPr>
        <p:spPr>
          <a:xfrm>
            <a:off x="6905625" y="4362450"/>
            <a:ext cx="46005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核对销量、备餐量及退餐记录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确认各餐次与厨余记录对应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-77"/>
          <p:cNvSpPr>
            <a:spLocks noGrp="1"/>
          </p:cNvSpPr>
          <p:nvPr/>
        </p:nvSpPr>
        <p:spPr>
          <a:xfrm>
            <a:off x="685800" y="5905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计划样本：运营人员不少于12人；学生反馈不少于60份；均未开展</a:t>
            </a:r>
            <a:endParaRPr sz="13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78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 验证指标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79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12周试点，用剩餐与缺餐共同判断效果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80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81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85800" y="2076450"/>
          <a:ext cx="10820400" cy="3286125"/>
        </p:xfrm>
        <a:graphic>
          <a:graphicData uri="http://schemas.openxmlformats.org/drawingml/2006/table">
            <a:tbl>
              <a:tblPr/>
              <a:tblGrid>
                <a:gridCol w="2857500"/>
                <a:gridCol w="3429000"/>
                <a:gridCol w="4533900"/>
              </a:tblGrid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  <a:endParaRPr sz="165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拟定通过目标</a:t>
                      </a:r>
                      <a:endParaRPr sz="165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测量方式</a:t>
                      </a:r>
                      <a:endParaRPr sz="165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预测误差 WAPE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不高于历史均值基线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按时间留出测试，避免信息泄漏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每百份未售剩餐量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较基准期下降至少15%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统一称重口径，按实际供餐量归一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缺餐率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不高于基准期1个百分点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固定抽查时间与菜品口径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一线额外操作时间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每餐次不超过10分钟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现场计时并访谈操作人员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</a:tr>
            </a:tbl>
          </a:graphicData>
        </a:graphic>
      </p:graphicFrame>
      <p:sp>
        <p:nvSpPr>
          <p:cNvPr id="6" name="text-82"/>
          <p:cNvSpPr>
            <a:spLocks noGrp="1"/>
          </p:cNvSpPr>
          <p:nvPr/>
        </p:nvSpPr>
        <p:spPr>
          <a:xfrm>
            <a:off x="685800" y="5905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全部为拟定验收目标；对照相近星期与菜品，记录校历、天气及菜单变化</a:t>
            </a:r>
            <a:endParaRPr sz="13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ext-83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 商业模式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84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向食堂运营方收取部署费与年度服务费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85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86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87"/>
          <p:cNvSpPr>
            <a:spLocks noGrp="1"/>
          </p:cNvSpPr>
          <p:nvPr/>
        </p:nvSpPr>
        <p:spPr>
          <a:xfrm>
            <a:off x="685800" y="2124075"/>
            <a:ext cx="59055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525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525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25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2.4万元</a:t>
            </a:r>
            <a:endParaRPr sz="525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88"/>
          <p:cNvSpPr>
            <a:spLocks noGrp="1"/>
          </p:cNvSpPr>
          <p:nvPr/>
        </p:nvSpPr>
        <p:spPr>
          <a:xfrm>
            <a:off x="723900" y="3286125"/>
            <a:ext cx="6191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250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每食堂每年  /  拟定服务定价</a:t>
            </a:r>
            <a:endParaRPr sz="2250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89"/>
          <p:cNvSpPr>
            <a:spLocks noGrp="1"/>
          </p:cNvSpPr>
          <p:nvPr/>
        </p:nvSpPr>
        <p:spPr>
          <a:xfrm>
            <a:off x="723900" y="4029075"/>
            <a:ext cx="6381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覆盖备餐建议、餐次复盘与技术支持</a:t>
            </a:r>
            <a:endParaRPr sz="21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1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新增部署费：0.6万元 / 食堂</a:t>
            </a:r>
            <a:endParaRPr sz="21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90"/>
          <p:cNvSpPr>
            <a:spLocks noGrp="1"/>
          </p:cNvSpPr>
          <p:nvPr/>
        </p:nvSpPr>
        <p:spPr>
          <a:xfrm>
            <a:off x="8286750" y="2228850"/>
            <a:ext cx="3219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3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采购对象</a:t>
            </a:r>
            <a:endParaRPr sz="232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91"/>
          <p:cNvSpPr>
            <a:spLocks noGrp="1"/>
          </p:cNvSpPr>
          <p:nvPr/>
        </p:nvSpPr>
        <p:spPr>
          <a:xfrm>
            <a:off x="8286750" y="2838450"/>
            <a:ext cx="321945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高校食堂运营方</a:t>
            </a:r>
            <a:endParaRPr sz="19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或具有采购权限的单位</a:t>
            </a:r>
            <a:endParaRPr sz="19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92"/>
          <p:cNvSpPr>
            <a:spLocks noGrp="1"/>
          </p:cNvSpPr>
          <p:nvPr/>
        </p:nvSpPr>
        <p:spPr>
          <a:xfrm>
            <a:off x="8286750" y="4238625"/>
            <a:ext cx="32194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3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购买前提</a:t>
            </a:r>
            <a:endParaRPr sz="232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93"/>
          <p:cNvSpPr>
            <a:spLocks noGrp="1"/>
          </p:cNvSpPr>
          <p:nvPr/>
        </p:nvSpPr>
        <p:spPr>
          <a:xfrm>
            <a:off x="8286750" y="4819650"/>
            <a:ext cx="32194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试点确认节约价值</a:t>
            </a:r>
            <a:endParaRPr sz="19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并明确现场操作责任</a:t>
            </a:r>
            <a:endParaRPr sz="19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94"/>
          <p:cNvSpPr>
            <a:spLocks noGrp="1"/>
          </p:cNvSpPr>
          <p:nvPr/>
        </p:nvSpPr>
        <p:spPr>
          <a:xfrm>
            <a:off x="685800" y="5905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定价与合同方案均为假设，需通过付费意愿访谈、采购流程和报价验证</a:t>
            </a:r>
            <a:endParaRPr sz="13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B3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text-95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 市场进入路径</a:t>
            </a:r>
            <a:endParaRPr sz="1275" b="1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96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F4F1E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F4F1E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F4F1E8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先在本地复制，再进入团餐运营网络</a:t>
            </a:r>
            <a:endParaRPr sz="3150" b="0">
              <a:solidFill>
                <a:srgbClr val="F4F1E8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97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A6BF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A6BF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A6BFB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A6BFB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98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0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99"/>
          <p:cNvSpPr>
            <a:spLocks noGrp="1"/>
          </p:cNvSpPr>
          <p:nvPr/>
        </p:nvSpPr>
        <p:spPr>
          <a:xfrm>
            <a:off x="685800" y="2085975"/>
            <a:ext cx="276225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8250" b="0">
                <a:solidFill>
                  <a:srgbClr val="C5DE8F"/>
                </a:solidFill>
                <a:latin typeface="Bahnschrift" panose="020B0502040204020203"/>
                <a:ea typeface="Bahnschrift" panose="020B0502040204020203"/>
                <a:cs typeface="Bahnschrift" panose="020B0502040204020203"/>
              </a:defRPr>
            </a:defPPr>
          </a:lstStyle>
          <a:p>
            <a:pPr algn="l">
              <a:buNone/>
              <a:defRPr sz="8250" b="0">
                <a:solidFill>
                  <a:srgbClr val="C5DE8F"/>
                </a:solidFill>
                <a:latin typeface="Bahnschrift" panose="020B0502040204020203"/>
                <a:ea typeface="Bahnschrift" panose="020B0502040204020203"/>
                <a:cs typeface="Bahnschrift" panose="020B0502040204020203"/>
              </a:defRPr>
            </a:pPr>
            <a:r>
              <a:rPr sz="8250" b="0">
                <a:solidFill>
                  <a:srgbClr val="C5DE8F"/>
                </a:solidFill>
                <a:latin typeface="Bahnschrift" panose="020B0502040204020203"/>
                <a:ea typeface="Bahnschrift" panose="020B0502040204020203"/>
                <a:cs typeface="Bahnschrift" panose="020B0502040204020203"/>
              </a:rPr>
              <a:t>5</a:t>
            </a:r>
            <a:endParaRPr sz="8250" b="0">
              <a:solidFill>
                <a:srgbClr val="C5DE8F"/>
              </a:solidFill>
              <a:latin typeface="Bahnschrift" panose="020B0502040204020203"/>
              <a:ea typeface="Bahnschrift" panose="020B0502040204020203"/>
              <a:cs typeface="Bahnschrift" panose="020B0502040204020203"/>
            </a:endParaRPr>
          </a:p>
        </p:txBody>
      </p:sp>
      <p:sp>
        <p:nvSpPr>
          <p:cNvPr id="6" name="text-100"/>
          <p:cNvSpPr>
            <a:spLocks noGrp="1"/>
          </p:cNvSpPr>
          <p:nvPr/>
        </p:nvSpPr>
        <p:spPr>
          <a:xfrm>
            <a:off x="723900" y="3552825"/>
            <a:ext cx="4286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32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32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首年拟付费食堂数</a:t>
            </a:r>
            <a:endParaRPr sz="2325" b="1">
              <a:solidFill>
                <a:srgbClr val="F4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01"/>
          <p:cNvSpPr>
            <a:spLocks noGrp="1"/>
          </p:cNvSpPr>
          <p:nvPr/>
        </p:nvSpPr>
        <p:spPr>
          <a:xfrm>
            <a:off x="723900" y="4333875"/>
            <a:ext cx="4476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95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业务目标，非已签约数量</a:t>
            </a:r>
            <a:endParaRPr sz="195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95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适配同类食堂后再扩大场景</a:t>
            </a:r>
            <a:endParaRPr sz="195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02"/>
          <p:cNvSpPr>
            <a:spLocks noGrp="1"/>
          </p:cNvSpPr>
          <p:nvPr/>
        </p:nvSpPr>
        <p:spPr>
          <a:xfrm>
            <a:off x="6096000" y="2095500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700" b="1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03"/>
          <p:cNvSpPr>
            <a:spLocks noGrp="1"/>
          </p:cNvSpPr>
          <p:nvPr/>
        </p:nvSpPr>
        <p:spPr>
          <a:xfrm>
            <a:off x="6905625" y="2095500"/>
            <a:ext cx="46005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进入一个样板食堂</a:t>
            </a:r>
            <a:endParaRPr sz="2175" b="1">
              <a:solidFill>
                <a:srgbClr val="F4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104"/>
          <p:cNvSpPr>
            <a:spLocks noGrp="1"/>
          </p:cNvSpPr>
          <p:nvPr/>
        </p:nvSpPr>
        <p:spPr>
          <a:xfrm>
            <a:off x="6905625" y="2667000"/>
            <a:ext cx="46005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以12周试点收集餐次数据</a:t>
            </a:r>
            <a:endParaRPr sz="180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核对使用反馈与现场效果</a:t>
            </a:r>
            <a:endParaRPr sz="180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105"/>
          <p:cNvSpPr>
            <a:spLocks noGrp="1"/>
          </p:cNvSpPr>
          <p:nvPr/>
        </p:nvSpPr>
        <p:spPr>
          <a:xfrm>
            <a:off x="6096000" y="3829050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700" b="1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106"/>
          <p:cNvSpPr>
            <a:spLocks noGrp="1"/>
          </p:cNvSpPr>
          <p:nvPr/>
        </p:nvSpPr>
        <p:spPr>
          <a:xfrm>
            <a:off x="6905625" y="3829050"/>
            <a:ext cx="46005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复制到同一运营方</a:t>
            </a:r>
            <a:endParaRPr sz="2175" b="1">
              <a:solidFill>
                <a:srgbClr val="F4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-107"/>
          <p:cNvSpPr>
            <a:spLocks noGrp="1"/>
          </p:cNvSpPr>
          <p:nvPr/>
        </p:nvSpPr>
        <p:spPr>
          <a:xfrm>
            <a:off x="6905625" y="4400550"/>
            <a:ext cx="46005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C8D9C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复用数据接口、培训材料与验收流程。</a:t>
            </a:r>
            <a:endParaRPr sz="1800" b="0">
              <a:solidFill>
                <a:srgbClr val="C8D9C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-108"/>
          <p:cNvSpPr>
            <a:spLocks noGrp="1"/>
          </p:cNvSpPr>
          <p:nvPr/>
        </p:nvSpPr>
        <p:spPr>
          <a:xfrm>
            <a:off x="685800" y="5905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B4CF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B4CF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4CF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市场范围按可接触客户、采购权限和交付能力估算，暂不使用全国市场规模</a:t>
            </a:r>
            <a:endParaRPr sz="1350" b="0">
              <a:solidFill>
                <a:srgbClr val="B4CFB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1" name="text-109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 单食堂经济测算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10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客户节约价值取决于采购改善的真实幅度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111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12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13"/>
          <p:cNvSpPr>
            <a:spLocks noGrp="1"/>
          </p:cNvSpPr>
          <p:nvPr/>
        </p:nvSpPr>
        <p:spPr>
          <a:xfrm>
            <a:off x="685800" y="1943100"/>
            <a:ext cx="6953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年度可避免食材支出（万元）</a:t>
            </a:r>
            <a:endParaRPr sz="187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Chart"/>
          <p:cNvGraphicFramePr/>
          <p:nvPr/>
        </p:nvGraphicFramePr>
        <p:xfrm>
          <a:off x="685800" y="2524125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text-114"/>
          <p:cNvSpPr>
            <a:spLocks noGrp="1"/>
          </p:cNvSpPr>
          <p:nvPr/>
        </p:nvSpPr>
        <p:spPr>
          <a:xfrm>
            <a:off x="8286750" y="2381250"/>
            <a:ext cx="32194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6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36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780万元</a:t>
            </a:r>
            <a:endParaRPr sz="36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15"/>
          <p:cNvSpPr>
            <a:spLocks noGrp="1"/>
          </p:cNvSpPr>
          <p:nvPr/>
        </p:nvSpPr>
        <p:spPr>
          <a:xfrm>
            <a:off x="8286750" y="3190875"/>
            <a:ext cx="32194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950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950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假设年度食材支出</a:t>
            </a:r>
            <a:endParaRPr sz="1950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16"/>
          <p:cNvSpPr>
            <a:spLocks noGrp="1"/>
          </p:cNvSpPr>
          <p:nvPr/>
        </p:nvSpPr>
        <p:spPr>
          <a:xfrm>
            <a:off x="8286750" y="3952875"/>
            <a:ext cx="32194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6,000餐 / 日</a:t>
            </a:r>
            <a:endParaRPr sz="1875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 260天 / 年</a:t>
            </a:r>
            <a:endParaRPr sz="1875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 5元食材成本 / 餐</a:t>
            </a:r>
            <a:endParaRPr sz="1875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117"/>
          <p:cNvSpPr>
            <a:spLocks noGrp="1"/>
          </p:cNvSpPr>
          <p:nvPr/>
        </p:nvSpPr>
        <p:spPr>
          <a:xfrm>
            <a:off x="685800" y="5905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情景假设，不是节约承诺；首年费用3万元，未含客户侧额外人工等成本</a:t>
            </a:r>
            <a:endParaRPr sz="13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text-118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 财务假设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19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三年经营情景：第3年达到经营收支平衡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120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21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85800" y="2000250"/>
          <a:ext cx="10820400" cy="3333750"/>
        </p:xfrm>
        <a:graphic>
          <a:graphicData uri="http://schemas.openxmlformats.org/drawingml/2006/table">
            <a:tbl>
              <a:tblPr/>
              <a:tblGrid>
                <a:gridCol w="4533900"/>
                <a:gridCol w="2095500"/>
                <a:gridCol w="2095500"/>
                <a:gridCol w="2095500"/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 / 单位：万元</a:t>
                      </a:r>
                      <a:endParaRPr sz="165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第1年</a:t>
                      </a:r>
                      <a:endParaRPr sz="165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第2年</a:t>
                      </a:r>
                      <a:endParaRPr sz="165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第3年</a:t>
                      </a:r>
                      <a:endParaRPr sz="165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计费食堂数 / 新增数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 / 5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 / 15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 / 30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服务与部署收入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15.00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57.00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138.00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直接交付成本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5.85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21.15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49.50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毛利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9.15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35.85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88.50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研发、销售及管理费用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30.00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50.00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80.00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经营结果（税前）</a:t>
                      </a:r>
                      <a:endParaRPr sz="165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−20.85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−14.15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8.50</a:t>
                      </a:r>
                      <a:endParaRPr sz="165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</a:tr>
            </a:tbl>
          </a:graphicData>
        </a:graphic>
      </p:graphicFrame>
      <p:sp>
        <p:nvSpPr>
          <p:cNvPr id="6" name="text-122"/>
          <p:cNvSpPr>
            <a:spLocks noGrp="1"/>
          </p:cNvSpPr>
          <p:nvPr/>
        </p:nvSpPr>
        <p:spPr>
          <a:xfrm>
            <a:off x="685800" y="5667375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演示测算：无流失、全年计费；服务成本0.72万/食堂/年，新增硬件与安装0.45万/食堂</a:t>
            </a:r>
            <a:endParaRPr sz="13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23"/>
          <p:cNvSpPr>
            <a:spLocks noGrp="1"/>
          </p:cNvSpPr>
          <p:nvPr/>
        </p:nvSpPr>
        <p:spPr>
          <a:xfrm>
            <a:off x="685800" y="60198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未含税费、资金成本及营运资金变化；收入确认时点与真实合同另行核算</a:t>
            </a:r>
            <a:endParaRPr sz="13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" name="text-124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 团队与学习成长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25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团队围绕现场问题配置责任与交付物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126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27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28"/>
          <p:cNvSpPr>
            <a:spLocks noGrp="1"/>
          </p:cNvSpPr>
          <p:nvPr/>
        </p:nvSpPr>
        <p:spPr>
          <a:xfrm>
            <a:off x="685800" y="2076450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7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29"/>
          <p:cNvSpPr>
            <a:spLocks noGrp="1"/>
          </p:cNvSpPr>
          <p:nvPr/>
        </p:nvSpPr>
        <p:spPr>
          <a:xfrm>
            <a:off x="1495425" y="2076450"/>
            <a:ext cx="42576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产品与用户研究  ［姓名］</a:t>
            </a:r>
            <a:endParaRPr sz="217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30"/>
          <p:cNvSpPr>
            <a:spLocks noGrp="1"/>
          </p:cNvSpPr>
          <p:nvPr/>
        </p:nvSpPr>
        <p:spPr>
          <a:xfrm>
            <a:off x="1495425" y="2647950"/>
            <a:ext cx="42576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完成访谈与需求排序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验证一线操作流程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31"/>
          <p:cNvSpPr>
            <a:spLocks noGrp="1"/>
          </p:cNvSpPr>
          <p:nvPr/>
        </p:nvSpPr>
        <p:spPr>
          <a:xfrm>
            <a:off x="6400800" y="2076450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7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32"/>
          <p:cNvSpPr>
            <a:spLocks noGrp="1"/>
          </p:cNvSpPr>
          <p:nvPr/>
        </p:nvSpPr>
        <p:spPr>
          <a:xfrm>
            <a:off x="7210425" y="2076450"/>
            <a:ext cx="42957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算法与数据  ［姓名］</a:t>
            </a:r>
            <a:endParaRPr sz="217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-133"/>
          <p:cNvSpPr>
            <a:spLocks noGrp="1"/>
          </p:cNvSpPr>
          <p:nvPr/>
        </p:nvSpPr>
        <p:spPr>
          <a:xfrm>
            <a:off x="7210425" y="2647950"/>
            <a:ext cx="42957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建立基线模型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维护数据口径与误差分析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134"/>
          <p:cNvSpPr>
            <a:spLocks noGrp="1"/>
          </p:cNvSpPr>
          <p:nvPr/>
        </p:nvSpPr>
        <p:spPr>
          <a:xfrm>
            <a:off x="685800" y="4029075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7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135"/>
          <p:cNvSpPr>
            <a:spLocks noGrp="1"/>
          </p:cNvSpPr>
          <p:nvPr/>
        </p:nvSpPr>
        <p:spPr>
          <a:xfrm>
            <a:off x="1495425" y="4029075"/>
            <a:ext cx="42576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软硬件与部署  ［姓名］</a:t>
            </a:r>
            <a:endParaRPr sz="217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-136"/>
          <p:cNvSpPr>
            <a:spLocks noGrp="1"/>
          </p:cNvSpPr>
          <p:nvPr/>
        </p:nvSpPr>
        <p:spPr>
          <a:xfrm>
            <a:off x="1495425" y="4600575"/>
            <a:ext cx="42576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完成终端接入与日志追溯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测试现场可靠性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-137"/>
          <p:cNvSpPr>
            <a:spLocks noGrp="1"/>
          </p:cNvSpPr>
          <p:nvPr/>
        </p:nvSpPr>
        <p:spPr>
          <a:xfrm>
            <a:off x="6400800" y="4029075"/>
            <a:ext cx="619125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700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-138"/>
          <p:cNvSpPr>
            <a:spLocks noGrp="1"/>
          </p:cNvSpPr>
          <p:nvPr/>
        </p:nvSpPr>
        <p:spPr>
          <a:xfrm>
            <a:off x="7210425" y="4029075"/>
            <a:ext cx="42957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运营与财务  ［姓名］</a:t>
            </a:r>
            <a:endParaRPr sz="217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-139"/>
          <p:cNvSpPr>
            <a:spLocks noGrp="1"/>
          </p:cNvSpPr>
          <p:nvPr/>
        </p:nvSpPr>
        <p:spPr>
          <a:xfrm>
            <a:off x="7210425" y="4600575"/>
            <a:ext cx="42957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核对成本与采购流程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整理试点验收材料</a:t>
            </a:r>
            <a:endParaRPr sz="180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text-140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 执行计划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41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12周完成原型、试点与采购验证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142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43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685800" y="2095500"/>
          <a:ext cx="10820400" cy="3143250"/>
        </p:xfrm>
        <a:graphic>
          <a:graphicData uri="http://schemas.openxmlformats.org/drawingml/2006/table">
            <a:tbl>
              <a:tblPr/>
              <a:tblGrid>
                <a:gridCol w="2190750"/>
                <a:gridCol w="4333875"/>
                <a:gridCol w="4295775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</a:t>
                      </a:r>
                      <a:endParaRPr sz="180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计划任务</a:t>
                      </a:r>
                      <a:endParaRPr sz="180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4F1E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阶段交付物</a:t>
                      </a:r>
                      <a:endParaRPr sz="1800" b="1">
                        <a:solidFill>
                          <a:srgbClr val="F4F1E8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T w="6668">
                      <a:solidFill>
                        <a:srgbClr val="D8DDD1"/>
                      </a:solidFill>
                      <a:prstDash val="solid"/>
                    </a:lnT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123B31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第1—2周</a:t>
                      </a:r>
                      <a:endParaRPr sz="180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访谈、流程观察、数据授权</a:t>
                      </a:r>
                      <a:endParaRPr sz="180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问题清单与数据字典</a:t>
                      </a:r>
                      <a:endParaRPr sz="180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第3—5周</a:t>
                      </a:r>
                      <a:endParaRPr sz="180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称重接入、台账与预测基线</a:t>
                      </a:r>
                      <a:endParaRPr sz="180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可运行原型与校准记录</a:t>
                      </a:r>
                      <a:endParaRPr sz="180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第6—9周</a:t>
                      </a:r>
                      <a:endParaRPr sz="180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连续采集、餐次对照与建议试用</a:t>
                      </a:r>
                      <a:endParaRPr sz="180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原始日志与异常分析</a:t>
                      </a:r>
                      <a:endParaRPr sz="180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F4F1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第10—12周</a:t>
                      </a:r>
                      <a:endParaRPr sz="1800" b="1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L w="6668">
                      <a:solidFill>
                        <a:srgbClr val="D8DDD1"/>
                      </a:solidFill>
                      <a:prstDash val="solid"/>
                    </a:lnL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验收、成本核算、付费意愿确认</a:t>
                      </a:r>
                      <a:endParaRPr sz="180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3B3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试点报告与采购反馈</a:t>
                      </a:r>
                      <a:endParaRPr sz="1800" b="0">
                        <a:solidFill>
                          <a:srgbClr val="123B3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>
                    <a:lnR w="6668">
                      <a:solidFill>
                        <a:srgbClr val="D8DDD1"/>
                      </a:solidFill>
                      <a:prstDash val="solid"/>
                    </a:lnR>
                    <a:lnB w="6668">
                      <a:solidFill>
                        <a:srgbClr val="D8DDD1"/>
                      </a:solidFill>
                      <a:prstDash val="solid"/>
                    </a:lnB>
                    <a:solidFill>
                      <a:srgbClr val="EBEDE3"/>
                    </a:solidFill>
                  </a:tcPr>
                </a:tc>
              </a:tr>
            </a:tbl>
          </a:graphicData>
        </a:graphic>
      </p:graphicFrame>
      <p:sp>
        <p:nvSpPr>
          <p:cNvPr id="6" name="text-144"/>
          <p:cNvSpPr>
            <a:spLocks noGrp="1"/>
          </p:cNvSpPr>
          <p:nvPr/>
        </p:nvSpPr>
        <p:spPr>
          <a:xfrm>
            <a:off x="685800" y="590550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启动条件：取得试点授权、明确现场责任人，并完成数据与食品操作边界确认</a:t>
            </a:r>
            <a:endParaRPr sz="13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-145"/>
          <p:cNvSpPr>
            <a:spLocks noGrp="1"/>
          </p:cNvSpPr>
          <p:nvPr/>
        </p:nvSpPr>
        <p:spPr>
          <a:xfrm>
            <a:off x="685800" y="381000"/>
            <a:ext cx="10287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 社会价值与风险</a:t>
            </a:r>
            <a:endParaRPr sz="12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ext-146"/>
          <p:cNvSpPr>
            <a:spLocks noGrp="1"/>
          </p:cNvSpPr>
          <p:nvPr/>
        </p:nvSpPr>
        <p:spPr>
          <a:xfrm>
            <a:off x="685800" y="904875"/>
            <a:ext cx="108204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3150" b="0">
                <a:solidFill>
                  <a:srgbClr val="123B31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节粮效果与运营风险需要同步评估</a:t>
            </a:r>
            <a:endParaRPr sz="3150" b="0">
              <a:solidFill>
                <a:srgbClr val="123B31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147"/>
          <p:cNvSpPr>
            <a:spLocks noGrp="1"/>
          </p:cNvSpPr>
          <p:nvPr/>
        </p:nvSpPr>
        <p:spPr>
          <a:xfrm>
            <a:off x="685800" y="6372225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A6E6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禾衡  /  高校食堂智能减损助手</a:t>
            </a:r>
            <a:endParaRPr sz="1050" b="0">
              <a:solidFill>
                <a:srgbClr val="5A6E6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48"/>
          <p:cNvSpPr>
            <a:spLocks noGrp="1"/>
          </p:cNvSpPr>
          <p:nvPr/>
        </p:nvSpPr>
        <p:spPr>
          <a:xfrm>
            <a:off x="10953750" y="6353175"/>
            <a:ext cx="5524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r"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0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49"/>
          <p:cNvSpPr>
            <a:spLocks noGrp="1"/>
          </p:cNvSpPr>
          <p:nvPr/>
        </p:nvSpPr>
        <p:spPr>
          <a:xfrm>
            <a:off x="685800" y="2066925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4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价值如何证明</a:t>
            </a:r>
            <a:endParaRPr sz="24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50"/>
          <p:cNvSpPr>
            <a:spLocks noGrp="1"/>
          </p:cNvSpPr>
          <p:nvPr/>
        </p:nvSpPr>
        <p:spPr>
          <a:xfrm>
            <a:off x="685800" y="2905125"/>
            <a:ext cx="495300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0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以每百份未售剩餐量衡量减损</a:t>
            </a:r>
            <a:endParaRPr sz="2100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10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以缺餐率和学生反馈约束体验</a:t>
            </a:r>
            <a:endParaRPr sz="2100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10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以可核对台账支持节粮教育</a:t>
            </a:r>
            <a:endParaRPr sz="2100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51"/>
          <p:cNvSpPr>
            <a:spLocks noGrp="1"/>
          </p:cNvSpPr>
          <p:nvPr/>
        </p:nvSpPr>
        <p:spPr>
          <a:xfrm>
            <a:off x="6572250" y="2066925"/>
            <a:ext cx="49339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4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4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2364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风险如何处理</a:t>
            </a:r>
            <a:endParaRPr sz="2475" b="1">
              <a:solidFill>
                <a:srgbClr val="2364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-152"/>
          <p:cNvSpPr>
            <a:spLocks noGrp="1"/>
          </p:cNvSpPr>
          <p:nvPr/>
        </p:nvSpPr>
        <p:spPr>
          <a:xfrm>
            <a:off x="6572250" y="2905125"/>
            <a:ext cx="493395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识别误差：低置信度转人工复核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现场负担：先做少菜品、单食堂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数据中断：恢复经验备餐并留痕</a:t>
            </a:r>
            <a:endParaRPr sz="2025" b="0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53"/>
          <p:cNvSpPr>
            <a:spLocks noGrp="1"/>
          </p:cNvSpPr>
          <p:nvPr/>
        </p:nvSpPr>
        <p:spPr>
          <a:xfrm>
            <a:off x="685800" y="5191125"/>
            <a:ext cx="108204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0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0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23B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数据设计：不采集人脸与个人就餐身份，按授权使用餐次汇总数据</a:t>
            </a:r>
            <a:endParaRPr sz="2025" b="1">
              <a:solidFill>
                <a:srgbClr val="123B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-154"/>
          <p:cNvSpPr>
            <a:spLocks noGrp="1"/>
          </p:cNvSpPr>
          <p:nvPr/>
        </p:nvSpPr>
        <p:spPr>
          <a:xfrm>
            <a:off x="685800" y="838200"/>
            <a:ext cx="5905500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6000" b="0">
                <a:solidFill>
                  <a:srgbClr val="FFFFFF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6000" b="0">
                <a:solidFill>
                  <a:srgbClr val="FFFFFF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6000" b="0">
                <a:solidFill>
                  <a:srgbClr val="FFFFFF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禾衡</a:t>
            </a:r>
            <a:endParaRPr sz="6000" b="0">
              <a:solidFill>
                <a:srgbClr val="FFFFFF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3" name="text-155"/>
          <p:cNvSpPr>
            <a:spLocks noGrp="1"/>
          </p:cNvSpPr>
          <p:nvPr/>
        </p:nvSpPr>
        <p:spPr>
          <a:xfrm>
            <a:off x="685800" y="2095500"/>
            <a:ext cx="6810375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4050" b="0">
                <a:solidFill>
                  <a:srgbClr val="FFFFFF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defPPr>
          </a:lstStyle>
          <a:p>
            <a:pPr algn="l">
              <a:buNone/>
              <a:defRPr sz="4050" b="0">
                <a:solidFill>
                  <a:srgbClr val="FFFFFF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4050" b="0">
                <a:solidFill>
                  <a:srgbClr val="FFFFFF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让下一餐</a:t>
            </a:r>
            <a:endParaRPr sz="4050" b="0">
              <a:solidFill>
                <a:srgbClr val="FFFFFF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  <a:p>
            <a:pPr algn="l">
              <a:buNone/>
              <a:defRPr sz="4050" b="0">
                <a:solidFill>
                  <a:srgbClr val="FFFFFF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defRPr>
            </a:pPr>
            <a:r>
              <a:rPr sz="4050" b="0">
                <a:solidFill>
                  <a:srgbClr val="FFFFFF"/>
                </a:solidFill>
                <a:latin typeface="Source Han Serif SC Heavy" panose="02020A00000000000000" charset="-122"/>
                <a:ea typeface="Source Han Serif SC Heavy" panose="02020A00000000000000" charset="-122"/>
                <a:cs typeface="Source Han Serif SC Heavy" panose="02020A00000000000000" charset="-122"/>
              </a:rPr>
              <a:t>更接近真实需求</a:t>
            </a:r>
            <a:endParaRPr sz="4050" b="0">
              <a:solidFill>
                <a:srgbClr val="FFFFFF"/>
              </a:solidFill>
              <a:latin typeface="Source Han Serif SC Heavy" panose="02020A00000000000000" charset="-122"/>
              <a:ea typeface="Source Han Serif SC Heavy" panose="02020A00000000000000" charset="-122"/>
              <a:cs typeface="Source Han Serif SC Heavy" panose="02020A00000000000000" charset="-122"/>
            </a:endParaRPr>
          </a:p>
        </p:txBody>
      </p:sp>
      <p:sp>
        <p:nvSpPr>
          <p:cNvPr id="4" name="text-156"/>
          <p:cNvSpPr>
            <a:spLocks noGrp="1"/>
          </p:cNvSpPr>
          <p:nvPr/>
        </p:nvSpPr>
        <p:spPr>
          <a:xfrm>
            <a:off x="742950" y="413385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1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1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5DE8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首阶段拟申请资源</a:t>
            </a:r>
            <a:endParaRPr sz="2100" b="1">
              <a:solidFill>
                <a:srgbClr val="C5DE8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57"/>
          <p:cNvSpPr>
            <a:spLocks noGrp="1"/>
          </p:cNvSpPr>
          <p:nvPr/>
        </p:nvSpPr>
        <p:spPr>
          <a:xfrm>
            <a:off x="742950" y="4667250"/>
            <a:ext cx="695325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2250" b="0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2250" b="0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1个试点食堂   12周现场验证</a:t>
            </a:r>
            <a:endParaRPr sz="2250" b="0">
              <a:solidFill>
                <a:srgbClr val="F4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2250" b="0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F4F1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20万元研发与试点支持</a:t>
            </a:r>
            <a:endParaRPr sz="2250" b="0">
              <a:solidFill>
                <a:srgbClr val="F4F1E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-158"/>
          <p:cNvSpPr>
            <a:spLocks noGrp="1"/>
          </p:cNvSpPr>
          <p:nvPr/>
        </p:nvSpPr>
        <p:spPr>
          <a:xfrm>
            <a:off x="742950" y="5819775"/>
            <a:ext cx="99060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350" b="0">
                <a:solidFill>
                  <a:srgbClr val="D0DD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350" b="0">
                <a:solidFill>
                  <a:srgbClr val="D0DD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D0DDC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预算假设：研发10万、设备4万、试点4万、预备2万</a:t>
            </a:r>
            <a:endParaRPr sz="1350" b="0">
              <a:solidFill>
                <a:srgbClr val="D0DDC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59"/>
          <p:cNvSpPr>
            <a:spLocks noGrp="1"/>
          </p:cNvSpPr>
          <p:nvPr/>
        </p:nvSpPr>
        <p:spPr>
          <a:xfrm>
            <a:off x="742950" y="6286500"/>
            <a:ext cx="752475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/>
          <a:lstStyle>
            <a:defPPr algn="l">
              <a:defRPr sz="1125" b="0">
                <a:solidFill>
                  <a:srgbClr val="B4CF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buNone/>
              <a:defRPr sz="1125" b="0">
                <a:solidFill>
                  <a:srgbClr val="B4CF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B4CFB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概念项目路演示例</a:t>
            </a:r>
            <a:endParaRPr sz="1125" b="0">
              <a:solidFill>
                <a:srgbClr val="B4CFB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2700</Words>
  <Application>WPS 演示</Application>
  <PresentationFormat>Converted Presentation</PresentationFormat>
  <Paragraphs>511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Source Han Serif SC Heavy</vt:lpstr>
      <vt:lpstr>Bahnschrift</vt:lpstr>
      <vt:lpstr>Arial Unicode MS</vt:lpstr>
      <vt:lpstr>Aptos</vt:lpstr>
      <vt:lpstr>Segoe UI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数   Physics   学</cp:lastModifiedBy>
  <cp:revision>1</cp:revision>
  <dcterms:created xsi:type="dcterms:W3CDTF">2026-10-15T13:39:38Z</dcterms:created>
  <dcterms:modified xsi:type="dcterms:W3CDTF">2026-10-15T13:39:39Z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EB6AE83B56284A0A907787C6B0F58F26_12</vt:lpwstr>
  </property>
  <property fmtid="{D5CDD505-2E9C-101B-9397-08002B2CF9AE}" pid="3" name="KSOProductBuildVer">
    <vt:lpwstr>2052-12.1.0.23125</vt:lpwstr>
  </property>
</Properties>
</file>
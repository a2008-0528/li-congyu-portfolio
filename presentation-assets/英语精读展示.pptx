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 ≈ 20 秒。报标题 The Weight of Choices，一句话说明：今天精读第三段——大学新生面对的“选择之重”。提醒展示人和日期需要现场/课前填上，总时长控制在 6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秒。先给全班 20–30 秒默读，同时完成右边三个任务：划生词、找核心问句（第⑤句那个 What do I want to do with my life）、找两种反应（第③句分析瘫痪 / 第④句冲动后悔）。橙色词就是接下来要讲的重点词，①–⑤方便后面引用句子。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秒。三个词，每个读音标→中文→例句→最后一行用法/搭配。sheer 强调它作“强调数量/程度”的用法，最常见搭配就是 the sheer number of…，正好对应原文第①句。impulsively 提醒对应第④句“冲动后悔”那派。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秒。两个短语讲清搭配：paralysis of analysis 常跟 fall into / be stuck in；press down on 对应原文第②句，近义 weigh on。下面词汇拓展是加分点——顺着词根扩两条链：impulse→impulsive→impulsively，daunt→daunting→undaunted（注意 undaunted 是“无畏的”，反义）。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55 秒。核心：破折号前五个 -ing 是并列列举，破折号把它们打包成主语 all these decisions；主干很短 all these decisions press down on an 18-year-old；who… 是定语从句，插入 just a year ago 形成今昔对比。修辞点出“排比/累叠”制造压迫感。最后念一遍参考译文。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55 秒。主干 The question becomes a constant companion；引号问句是同位语，解释 the question；whispering / screaming 是两个并列现在分词作伴随状语。重点讲拟人+对照。朗读示范：whispering 轻读放慢，screaming 重读加响，让全班感受情绪从低语到尖叫。最后念参考译文。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秒。先给一句话主旨（中英），关键词两个极端 + 挥之不去的问题。然后顺“段落脉络”四步走一遍：总起→列举→对比→收束，正好对应句①到句⑤。再讲三点作用：承上/展开/启下。最后点三种写作手法：排比、对比、拟人。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60 秒讲解 + 互动。玩法：抛出 Q1，让全班站成一条“人体晴雨表”——左边分析瘫痪型、右边冲动型、中间看情况，站到最像自己的位置，气氛立刻活。抽 2–3 人发言，要求用上 daunting / paralysis of analysis / impulsively（左边有参考句式）。时间够再用 Q2 收个尾。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≈ 20 秒。先读金句 Naming the trap is the first step out of it（看清陷阱=走出它的第一步），呼应主旨。用五个 chip 带全班快速回顾今日词：daunting / sheer / impulsively / paralysis of analysis / press down on。然后 Thank you，进入提问。全程约 6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046720" y="2743200"/>
            <a:ext cx="484632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大学英语阅读  ·  READING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30352" y="1554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Weight of Choices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54864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3 · 精读展示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8640" y="502920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课程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5340096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大学英语阅读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22244" y="502920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展示人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22244" y="5340096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＿＿＿＿＿＿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95848" y="502920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日期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5848" y="5340096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＿＿＿＿＿＿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69451" y="502920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用时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451" y="5340096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PASSAGE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Text — Paragraph 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原文呈现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7040880" cy="4160520"/>
          </a:xfrm>
          <a:prstGeom prst="roundRect">
            <a:avLst>
              <a:gd name="adj" fmla="val 1319"/>
            </a:avLst>
          </a:prstGeom>
          <a:solidFill>
            <a:srgbClr val="EEF1F8"/>
          </a:solidFill>
          <a:ln/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1783080"/>
            <a:ext cx="64556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Perhaps the most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daunting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challenge for a freshman is the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sheer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number of choices that lie ahead. 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major, deciding on minors, joining clubs, applying for internships, and even picking a career path — all these decisions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down on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 18-year-old who, just a year ago, was mainly concerned with passing high school exams. 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students fall into a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paralysis of analysis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spending hours weighing pros and cons but never making a decision. 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 rush into choices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impulsively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only to regret them later.  </a:t>
            </a:r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'What do I want to do with my life?' becomes a constant companion, whispering in moments of quiet and screaming in moments of panic.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91272" y="1554480"/>
            <a:ext cx="3751783" cy="4160520"/>
          </a:xfrm>
          <a:prstGeom prst="roundRect">
            <a:avLst>
              <a:gd name="adj" fmla="val 1462"/>
            </a:avLst>
          </a:prstGeom>
          <a:solidFill>
            <a:srgbClr val="191E38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828800"/>
            <a:ext cx="3294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阅读任务  READING TASKS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83880" y="2377440"/>
            <a:ext cx="402336" cy="402336"/>
          </a:xfrm>
          <a:prstGeom prst="ellipse">
            <a:avLst/>
          </a:prstGeom>
          <a:solidFill>
            <a:srgbClr val="FF6A5C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14232" y="2340864"/>
            <a:ext cx="2745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划出生词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714232" y="2688336"/>
            <a:ext cx="2745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new words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3401568"/>
            <a:ext cx="402336" cy="402336"/>
          </a:xfrm>
          <a:prstGeom prst="ellipse">
            <a:avLst/>
          </a:prstGeom>
          <a:solidFill>
            <a:srgbClr val="FF6A5C"/>
          </a:solidFill>
          <a:ln/>
        </p:spPr>
      </p:sp>
      <p:sp>
        <p:nvSpPr>
          <p:cNvPr id="16" name="Text 13"/>
          <p:cNvSpPr/>
          <p:nvPr/>
        </p:nvSpPr>
        <p:spPr>
          <a:xfrm>
            <a:off x="818388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14232" y="3364992"/>
            <a:ext cx="2745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找出核心问句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714232" y="3712464"/>
            <a:ext cx="2745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core question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83880" y="4425696"/>
            <a:ext cx="402336" cy="402336"/>
          </a:xfrm>
          <a:prstGeom prst="ellipse">
            <a:avLst/>
          </a:prstGeom>
          <a:solidFill>
            <a:srgbClr val="FF6A5C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14232" y="4389120"/>
            <a:ext cx="27459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找出两种反应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714232" y="4736592"/>
            <a:ext cx="2745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two reactions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橙色 = 重点词汇　·　①–⑤ = 句子编号，供后文引用。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 ·  1 /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— The Weight of Choices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重点词汇 ①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481328"/>
            <a:ext cx="11094415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191E3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36192" y="1591056"/>
            <a:ext cx="98325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daunting</a:t>
            </a:r>
            <a:pPr algn="l" indent="0" marL="0">
              <a:buNone/>
            </a:pPr>
            <a:r>
              <a:rPr lang="en-US" sz="12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adj.</a:t>
            </a:r>
            <a:pPr algn="l" indent="0" marL="0">
              <a:buNone/>
            </a:pPr>
            <a:r>
              <a:rPr lang="en-US" sz="12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/ˈdɔːntɪŋ/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536192" y="1956816"/>
            <a:ext cx="9832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令人畏惧的；使人气馁的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36192" y="2286000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3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college can feel daunting at first.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36192" y="2596896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  </a:t>
            </a:r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daunting task / challenge / prospect；find sth daunting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11094415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712464"/>
            <a:ext cx="457200" cy="457200"/>
          </a:xfrm>
          <a:prstGeom prst="ellipse">
            <a:avLst/>
          </a:prstGeom>
          <a:solidFill>
            <a:srgbClr val="191E38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536192" y="3310128"/>
            <a:ext cx="98325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sheer</a:t>
            </a:r>
            <a:pPr algn="l" indent="0" marL="0">
              <a:buNone/>
            </a:pPr>
            <a:r>
              <a:rPr lang="en-US" sz="12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adj.</a:t>
            </a:r>
            <a:pPr algn="l" indent="0" marL="0">
              <a:buNone/>
            </a:pPr>
            <a:r>
              <a:rPr lang="en-US" sz="12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/ʃɪr/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536192" y="3675888"/>
            <a:ext cx="9832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（强调数量 / 程度）十足的；纯粹的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36192" y="4005072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3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sheer number of choices overwhelmed her.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536192" y="4315968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 </a:t>
            </a:r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sheer number / size / scale / volume / joy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919472"/>
            <a:ext cx="11094415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5431536"/>
            <a:ext cx="457200" cy="457200"/>
          </a:xfrm>
          <a:prstGeom prst="ellipse">
            <a:avLst/>
          </a:prstGeom>
          <a:solidFill>
            <a:srgbClr val="191E38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536192" y="5029200"/>
            <a:ext cx="98325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impulsively</a:t>
            </a:r>
            <a:pPr algn="l" indent="0" marL="0">
              <a:buNone/>
            </a:pPr>
            <a:r>
              <a:rPr lang="en-US" sz="12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adv.</a:t>
            </a:r>
            <a:pPr algn="l" indent="0" marL="0">
              <a:buNone/>
            </a:pPr>
            <a:r>
              <a:rPr lang="en-US" sz="12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/ɪmˈpʌlsɪvli/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536192" y="5394960"/>
            <a:ext cx="9832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冲动地；凭一时冲动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536192" y="5724144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3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impulsively signed up for five clubs.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536192" y="6035040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  </a:t>
            </a:r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/ decide / buy / react impulsively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 ·  2 /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— Traps &amp; Pressures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重点词汇 ②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481328"/>
            <a:ext cx="11094415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191E3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36192" y="1591056"/>
            <a:ext cx="98325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paralysis of analysis</a:t>
            </a:r>
            <a:pPr algn="l" indent="0" marL="0">
              <a:buNone/>
            </a:pPr>
            <a:r>
              <a:rPr lang="en-US" sz="12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n. phr.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536192" y="1956816"/>
            <a:ext cx="9832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「分析瘫痪」——想太多，反而做不了决定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36192" y="2286000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3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in paralysis of analysis, she never chose.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36192" y="2596896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  </a:t>
            </a:r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into / be stuck in / suffer from + paralysis of analysis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145536"/>
            <a:ext cx="11094415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657600"/>
            <a:ext cx="457200" cy="457200"/>
          </a:xfrm>
          <a:prstGeom prst="ellipse">
            <a:avLst/>
          </a:prstGeom>
          <a:solidFill>
            <a:srgbClr val="191E38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536192" y="3255264"/>
            <a:ext cx="98325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down on</a:t>
            </a:r>
            <a:pPr algn="l" indent="0" marL="0">
              <a:buNone/>
            </a:pPr>
            <a:r>
              <a:rPr lang="en-US" sz="12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v. phr.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536192" y="3621024"/>
            <a:ext cx="9832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压在…上；给…施加压力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36192" y="3950208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algn="l" indent="0" marL="0">
              <a:buNone/>
            </a:pPr>
            <a:r>
              <a:rPr lang="en-US" sz="1300" i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these decisions press down on an 18-year-old.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536192" y="4261104"/>
            <a:ext cx="9832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近义  </a:t>
            </a:r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on / bear down on / burden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11094415" cy="1655064"/>
          </a:xfrm>
          <a:prstGeom prst="roundRect">
            <a:avLst>
              <a:gd name="adj" fmla="val 3867"/>
            </a:avLst>
          </a:prstGeom>
          <a:solidFill>
            <a:srgbClr val="EEF1F8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8097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词汇拓展  WORD FAMILY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" y="5138928"/>
            <a:ext cx="3210458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519379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impulse</a:t>
            </a:r>
            <a:pPr algn="ctr" indent="0" marL="0">
              <a:buNone/>
            </a:pPr>
            <a:r>
              <a:rPr lang="en-US" sz="11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543153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冲动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06570" y="5394960"/>
            <a:ext cx="310896" cy="0"/>
          </a:xfrm>
          <a:prstGeom prst="line">
            <a:avLst/>
          </a:prstGeom>
          <a:noFill/>
          <a:ln w="22225">
            <a:solidFill>
              <a:srgbClr val="B07A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490618" y="5138928"/>
            <a:ext cx="3210458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82058" y="519379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impulsive</a:t>
            </a:r>
            <a:pPr algn="ctr" indent="0" marL="0">
              <a:buNone/>
            </a:pPr>
            <a:r>
              <a:rPr lang="en-US" sz="11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adj.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82058" y="543153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冲动的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74229" y="5394960"/>
            <a:ext cx="310896" cy="0"/>
          </a:xfrm>
          <a:prstGeom prst="line">
            <a:avLst/>
          </a:prstGeom>
          <a:noFill/>
          <a:ln w="22225">
            <a:solidFill>
              <a:srgbClr val="B07A0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158277" y="5138928"/>
            <a:ext cx="3210458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49717" y="519379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impulsively</a:t>
            </a:r>
            <a:pPr algn="ctr" indent="0" marL="0">
              <a:buNone/>
            </a:pPr>
            <a:r>
              <a:rPr lang="en-US" sz="11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249717" y="543153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冲动地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22960" y="5733288"/>
            <a:ext cx="3210458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78815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daunt</a:t>
            </a:r>
            <a:pPr algn="ctr" indent="0" marL="0">
              <a:buNone/>
            </a:pPr>
            <a:r>
              <a:rPr lang="en-US" sz="11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14400" y="602589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使胆怯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106570" y="5989320"/>
            <a:ext cx="310896" cy="0"/>
          </a:xfrm>
          <a:prstGeom prst="line">
            <a:avLst/>
          </a:prstGeom>
          <a:noFill/>
          <a:ln w="22225">
            <a:solidFill>
              <a:srgbClr val="B07A00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490618" y="5733288"/>
            <a:ext cx="3210458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82058" y="578815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daunting</a:t>
            </a:r>
            <a:pPr algn="ctr" indent="0" marL="0">
              <a:buNone/>
            </a:pPr>
            <a:r>
              <a:rPr lang="en-US" sz="11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adj.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582058" y="602589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令人生畏的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774229" y="5989320"/>
            <a:ext cx="310896" cy="0"/>
          </a:xfrm>
          <a:prstGeom prst="line">
            <a:avLst/>
          </a:prstGeom>
          <a:noFill/>
          <a:ln w="22225">
            <a:solidFill>
              <a:srgbClr val="B07A00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8158277" y="5733288"/>
            <a:ext cx="3210458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49717" y="578815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undaunted</a:t>
            </a:r>
            <a:pPr algn="ctr" indent="0" marL="0">
              <a:buNone/>
            </a:pPr>
            <a:r>
              <a:rPr lang="en-US" sz="1100" dirty="0">
                <a:solidFill>
                  <a:srgbClr val="F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adj.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249717" y="602589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无畏的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  · 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Analysis — The List of Choices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长难句 ①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94415" cy="987552"/>
          </a:xfrm>
          <a:prstGeom prst="roundRect">
            <a:avLst>
              <a:gd name="adj" fmla="val 5556"/>
            </a:avLst>
          </a:prstGeom>
          <a:solidFill>
            <a:srgbClr val="EEF1F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63040"/>
            <a:ext cx="1054577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B0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major, deciding on minors, joining clubs, applying for internships, and even picking a career path</a:t>
            </a:r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6B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these decisions</a:t>
            </a:r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press down on </a:t>
            </a:r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18-year-old</a:t>
            </a:r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3F6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who, just a year ago, was mainly concerned with passing high school exams.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3200400" cy="1920240"/>
          </a:xfrm>
          <a:prstGeom prst="roundRect">
            <a:avLst>
              <a:gd name="adj" fmla="val 3333"/>
            </a:avLst>
          </a:prstGeom>
          <a:solidFill>
            <a:srgbClr val="FBF3D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61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五个并列 V-ing（列举）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8096" y="3108960"/>
            <a:ext cx="27980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major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on minors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clubs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for internships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a career path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67328" y="2962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破折号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67328" y="3218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总结上文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22192" y="3611880"/>
            <a:ext cx="749808" cy="0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63440" y="27889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91456" y="2916936"/>
            <a:ext cx="402336" cy="274320"/>
          </a:xfrm>
          <a:prstGeom prst="roundRect">
            <a:avLst>
              <a:gd name="adj" fmla="val 16667"/>
            </a:avLst>
          </a:prstGeom>
          <a:solidFill>
            <a:srgbClr val="FF6A5C"/>
          </a:solidFill>
          <a:ln/>
        </p:spPr>
      </p:sp>
      <p:sp>
        <p:nvSpPr>
          <p:cNvPr id="17" name="Text 14"/>
          <p:cNvSpPr/>
          <p:nvPr/>
        </p:nvSpPr>
        <p:spPr>
          <a:xfrm>
            <a:off x="4791456" y="291693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85232" y="291693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these decisions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65392" y="3063240"/>
            <a:ext cx="256032" cy="0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858000" y="27889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86016" y="2916936"/>
            <a:ext cx="402336" cy="274320"/>
          </a:xfrm>
          <a:prstGeom prst="roundRect">
            <a:avLst>
              <a:gd name="adj" fmla="val 16667"/>
            </a:avLst>
          </a:prstGeom>
          <a:solidFill>
            <a:srgbClr val="FF6A5C"/>
          </a:solidFill>
          <a:ln/>
        </p:spPr>
      </p:sp>
      <p:sp>
        <p:nvSpPr>
          <p:cNvPr id="22" name="Text 19"/>
          <p:cNvSpPr/>
          <p:nvPr/>
        </p:nvSpPr>
        <p:spPr>
          <a:xfrm>
            <a:off x="6986016" y="291693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79792" y="2916936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down 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68512" y="3063240"/>
            <a:ext cx="256032" cy="0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42832" y="27889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70848" y="2916936"/>
            <a:ext cx="402336" cy="274320"/>
          </a:xfrm>
          <a:prstGeom prst="roundRect">
            <a:avLst>
              <a:gd name="adj" fmla="val 16667"/>
            </a:avLst>
          </a:prstGeom>
          <a:solidFill>
            <a:srgbClr val="FF6A5C"/>
          </a:solidFill>
          <a:ln/>
        </p:spPr>
      </p:sp>
      <p:sp>
        <p:nvSpPr>
          <p:cNvPr id="27" name="Text 24"/>
          <p:cNvSpPr/>
          <p:nvPr/>
        </p:nvSpPr>
        <p:spPr>
          <a:xfrm>
            <a:off x="9070848" y="291693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564624" y="291693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18-year-old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0287000" y="3337560"/>
            <a:ext cx="0" cy="292608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663440" y="3767328"/>
            <a:ext cx="6976872" cy="804672"/>
          </a:xfrm>
          <a:prstGeom prst="roundRect">
            <a:avLst>
              <a:gd name="adj" fmla="val 6818"/>
            </a:avLst>
          </a:prstGeom>
          <a:solidFill>
            <a:srgbClr val="E3E8F5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3858768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定语从句（修饰 an 18-year-old）：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who,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a year ago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was mainly concerned with passing high school exams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4754880"/>
            <a:ext cx="7315200" cy="1417320"/>
          </a:xfrm>
          <a:prstGeom prst="roundRect">
            <a:avLst>
              <a:gd name="adj" fmla="val 3871"/>
            </a:avLst>
          </a:prstGeom>
          <a:solidFill>
            <a:srgbClr val="EEF1F8"/>
          </a:solidFill>
          <a:ln/>
        </p:spPr>
      </p:sp>
      <p:sp>
        <p:nvSpPr>
          <p:cNvPr id="33" name="Text 30"/>
          <p:cNvSpPr/>
          <p:nvPr/>
        </p:nvSpPr>
        <p:spPr>
          <a:xfrm>
            <a:off x="804672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参考译文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04672" y="5138928"/>
            <a:ext cx="6803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选专业、定辅修、加社团、申实习，甚至规划职业道路——所有这些决定，一股脑压在一个 18 岁的人身上；而仅仅一年前，他操心的还只是能不能通过高中考试。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165592" y="4754880"/>
            <a:ext cx="3477463" cy="1417320"/>
          </a:xfrm>
          <a:prstGeom prst="roundRect">
            <a:avLst>
              <a:gd name="adj" fmla="val 3871"/>
            </a:avLst>
          </a:prstGeom>
          <a:solidFill>
            <a:srgbClr val="FBE9E6"/>
          </a:solidFill>
          <a:ln/>
        </p:spPr>
      </p:sp>
      <p:sp>
        <p:nvSpPr>
          <p:cNvPr id="36" name="Text 33"/>
          <p:cNvSpPr/>
          <p:nvPr/>
        </p:nvSpPr>
        <p:spPr>
          <a:xfrm>
            <a:off x="8403336" y="4864608"/>
            <a:ext cx="30202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修辞 · 排比 Accumulation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403336" y="5175504"/>
            <a:ext cx="30202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五个动作层层叠加，把选择的“重量”一并压给读者，制造扑面而来的压迫感。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  · 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Analysis — The Question That Never Leaves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长难句 ②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63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</a:t>
            </a:r>
            <a:pPr algn="l" indent="0" marL="0">
              <a:lnSpc>
                <a:spcPct val="114000"/>
              </a:lnSpc>
              <a:buNone/>
            </a:pPr>
            <a:r>
              <a:rPr lang="en-US" sz="1450" b="1" i="1" dirty="0">
                <a:solidFill>
                  <a:srgbClr val="B0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'What do I want to do with my life?'</a:t>
            </a:r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becomes a constant companion</a:t>
            </a:r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6B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A6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whispering in moments of quiet</a:t>
            </a:r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6B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C7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screaming in moments of panic</a:t>
            </a:r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551834" cy="512064"/>
          </a:xfrm>
          <a:prstGeom prst="roundRect">
            <a:avLst>
              <a:gd name="adj" fmla="val 16071"/>
            </a:avLst>
          </a:prstGeom>
          <a:solidFill>
            <a:srgbClr val="E3E8F5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468880"/>
            <a:ext cx="3551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主干 The question becomes a companion（主系表）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9930" y="2468880"/>
            <a:ext cx="3551834" cy="512064"/>
          </a:xfrm>
          <a:prstGeom prst="roundRect">
            <a:avLst>
              <a:gd name="adj" fmla="val 16071"/>
            </a:avLst>
          </a:prstGeom>
          <a:solidFill>
            <a:srgbClr val="E3E8F5"/>
          </a:solidFill>
          <a:ln/>
        </p:spPr>
      </p:sp>
      <p:sp>
        <p:nvSpPr>
          <p:cNvPr id="12" name="Text 9"/>
          <p:cNvSpPr/>
          <p:nvPr/>
        </p:nvSpPr>
        <p:spPr>
          <a:xfrm>
            <a:off x="4319930" y="2468880"/>
            <a:ext cx="3551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同位语 'What…life?' 解释 the question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1221" y="2468880"/>
            <a:ext cx="3551834" cy="512064"/>
          </a:xfrm>
          <a:prstGeom prst="roundRect">
            <a:avLst>
              <a:gd name="adj" fmla="val 16071"/>
            </a:avLst>
          </a:prstGeom>
          <a:solidFill>
            <a:srgbClr val="E3E8F5"/>
          </a:solidFill>
          <a:ln/>
        </p:spPr>
      </p:sp>
      <p:sp>
        <p:nvSpPr>
          <p:cNvPr id="14" name="Text 11"/>
          <p:cNvSpPr/>
          <p:nvPr/>
        </p:nvSpPr>
        <p:spPr>
          <a:xfrm>
            <a:off x="8091221" y="2468880"/>
            <a:ext cx="3551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现在分词短语 whispering… / screaming…（伴随状语）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2724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EEF1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" y="3364992"/>
            <a:ext cx="457200" cy="457200"/>
          </a:xfrm>
          <a:prstGeom prst="ellipse">
            <a:avLst/>
          </a:prstGeom>
          <a:solidFill>
            <a:srgbClr val="6B718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49300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08176" y="33832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· 低语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33832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朗读：轻、慢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2960" y="391363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whispering in moments of quiet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22960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安静时，它在耳边轻声低语。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245352" y="312724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FF6A5C"/>
          </a:solidFill>
          <a:ln/>
        </p:spPr>
      </p:sp>
      <p:sp>
        <p:nvSpPr>
          <p:cNvPr id="23" name="Shape 19"/>
          <p:cNvSpPr/>
          <p:nvPr/>
        </p:nvSpPr>
        <p:spPr>
          <a:xfrm>
            <a:off x="6501384" y="3364992"/>
            <a:ext cx="457200" cy="457200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49300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04888" y="33832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 · 尖叫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222992" y="33832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朗读：重、响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519672" y="389534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screaming in moments of panic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6519672" y="4315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慌乱时，它在脑中放声尖叫。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8640" y="48646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修辞：</a:t>
            </a:r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拟人 Personification（把“问题”写成会低语、会尖叫的人）　+　对照 Antithesis（quiet ↔ panic，whisper ↔ scream）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48640" y="5285232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/>
        </p:spPr>
      </p:sp>
      <p:sp>
        <p:nvSpPr>
          <p:cNvPr id="31" name="Text 26"/>
          <p:cNvSpPr/>
          <p:nvPr/>
        </p:nvSpPr>
        <p:spPr>
          <a:xfrm>
            <a:off x="804672" y="5285232"/>
            <a:ext cx="10582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参考译文　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“我这一生到底想做什么？”——这个问题成了甩不掉的伙伴：安静时在耳边低语，慌乱时放声尖叫。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&amp; FUNCTION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Idea &amp; Function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主旨与作用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444752"/>
            <a:ext cx="11094415" cy="1298448"/>
          </a:xfrm>
          <a:prstGeom prst="roundRect">
            <a:avLst>
              <a:gd name="adj" fmla="val 4930"/>
            </a:avLst>
          </a:prstGeom>
          <a:solidFill>
            <a:srgbClr val="191E38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主旨  MAIN IDEA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792224"/>
            <a:ext cx="10509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 overwhelmed freshman, endless choices breed two opposite failures — hesitation and haste — and a question that never leaves.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2286000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面对扑面而来的选择，迷茫的大一新生容易走向两个极端——要么无止境犹豫，要么鲁莽冲动；而“我到底想做什么”，始终挥之不去。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907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段落脉络  FLOW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2485568" cy="786384"/>
          </a:xfrm>
          <a:prstGeom prst="roundRect">
            <a:avLst>
              <a:gd name="adj" fmla="val 6977"/>
            </a:avLst>
          </a:prstGeom>
          <a:solidFill>
            <a:srgbClr val="E3E8F5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" y="329184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总起  </a:t>
            </a:r>
            <a:pPr algn="l" indent="0" marL="0">
              <a:buNone/>
            </a:pPr>
            <a:r>
              <a:rPr lang="en-US" sz="10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" y="3584448"/>
            <a:ext cx="219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最大挑战 = 选择太多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07360" y="3593592"/>
            <a:ext cx="237744" cy="0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18256" y="3200400"/>
            <a:ext cx="2485568" cy="786384"/>
          </a:xfrm>
          <a:prstGeom prst="roundRect">
            <a:avLst>
              <a:gd name="adj" fmla="val 6977"/>
            </a:avLst>
          </a:prstGeom>
          <a:solidFill>
            <a:srgbClr val="E3E8F5"/>
          </a:solidFill>
          <a:ln/>
        </p:spPr>
      </p:sp>
      <p:sp>
        <p:nvSpPr>
          <p:cNvPr id="17" name="Text 14"/>
          <p:cNvSpPr/>
          <p:nvPr/>
        </p:nvSpPr>
        <p:spPr>
          <a:xfrm>
            <a:off x="3564560" y="329184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列举  </a:t>
            </a:r>
            <a:pPr algn="l" indent="0" marL="0">
              <a:buNone/>
            </a:pPr>
            <a:r>
              <a:rPr lang="en-US" sz="10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64560" y="3584448"/>
            <a:ext cx="219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 / 辅修 / 社团 / 实习 / 职业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76976" y="3593592"/>
            <a:ext cx="237744" cy="0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87872" y="3200400"/>
            <a:ext cx="2485568" cy="786384"/>
          </a:xfrm>
          <a:prstGeom prst="roundRect">
            <a:avLst>
              <a:gd name="adj" fmla="val 6977"/>
            </a:avLst>
          </a:prstGeom>
          <a:solidFill>
            <a:srgbClr val="E3E8F5"/>
          </a:solidFill>
          <a:ln/>
        </p:spPr>
      </p:sp>
      <p:sp>
        <p:nvSpPr>
          <p:cNvPr id="21" name="Text 18"/>
          <p:cNvSpPr/>
          <p:nvPr/>
        </p:nvSpPr>
        <p:spPr>
          <a:xfrm>
            <a:off x="6434176" y="329184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对比  </a:t>
            </a:r>
            <a:pPr algn="l" indent="0" marL="0">
              <a:buNone/>
            </a:pPr>
            <a:r>
              <a:rPr lang="en-US" sz="10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句③④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34176" y="3584448"/>
            <a:ext cx="219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分析瘫痪 ↔ 冲动后悔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846591" y="3593592"/>
            <a:ext cx="237744" cy="0"/>
          </a:xfrm>
          <a:prstGeom prst="line">
            <a:avLst/>
          </a:prstGeom>
          <a:noFill/>
          <a:ln w="19050">
            <a:solidFill>
              <a:srgbClr val="6B718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157487" y="3200400"/>
            <a:ext cx="2485568" cy="786384"/>
          </a:xfrm>
          <a:prstGeom prst="roundRect">
            <a:avLst>
              <a:gd name="adj" fmla="val 6977"/>
            </a:avLst>
          </a:prstGeom>
          <a:solidFill>
            <a:srgbClr val="FBE9E6"/>
          </a:solidFill>
          <a:ln/>
        </p:spPr>
      </p:sp>
      <p:sp>
        <p:nvSpPr>
          <p:cNvPr id="25" name="Text 22"/>
          <p:cNvSpPr/>
          <p:nvPr/>
        </p:nvSpPr>
        <p:spPr>
          <a:xfrm>
            <a:off x="9303791" y="3291840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收束  </a:t>
            </a:r>
            <a:pPr algn="l" indent="0" marL="0">
              <a:buNone/>
            </a:pPr>
            <a:r>
              <a:rPr lang="en-US" sz="10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303791" y="3584448"/>
            <a:ext cx="219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挥之不去的存在之问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在全文中的作用  FUNCTION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517136"/>
            <a:ext cx="351525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68096" y="4718304"/>
            <a:ext cx="402336" cy="40233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828032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298448" y="468172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 Links back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768096" y="50292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延续前文“新生适应挑战”，聚焦到“选择”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338218" y="4517136"/>
            <a:ext cx="351525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557674" y="4718304"/>
            <a:ext cx="402336" cy="40233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402" y="4828032"/>
            <a:ext cx="182880" cy="1828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088026" y="468172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展开 Expands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4557674" y="50292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用具体决策 + 两种反应，把抽象焦虑写实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127797" y="4517136"/>
            <a:ext cx="351525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347253" y="4718304"/>
            <a:ext cx="402336" cy="40233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981" y="4828032"/>
            <a:ext cx="182880" cy="1828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877605" y="468172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启下 Leads on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8347253" y="50292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抛出“人生方向”之问，引向后文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548640" y="56144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写作手法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1920240" y="5614416"/>
            <a:ext cx="2194560" cy="402336"/>
          </a:xfrm>
          <a:prstGeom prst="roundRect">
            <a:avLst>
              <a:gd name="adj" fmla="val 20455"/>
            </a:avLst>
          </a:prstGeom>
          <a:solidFill>
            <a:srgbClr val="FBF3D8"/>
          </a:solidFill>
          <a:ln/>
        </p:spPr>
      </p:sp>
      <p:sp>
        <p:nvSpPr>
          <p:cNvPr id="45" name="Text 39"/>
          <p:cNvSpPr/>
          <p:nvPr/>
        </p:nvSpPr>
        <p:spPr>
          <a:xfrm>
            <a:off x="1920240" y="5614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排比 Parallelism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4251960" y="5614416"/>
            <a:ext cx="2194560" cy="402336"/>
          </a:xfrm>
          <a:prstGeom prst="roundRect">
            <a:avLst>
              <a:gd name="adj" fmla="val 20455"/>
            </a:avLst>
          </a:prstGeom>
          <a:solidFill>
            <a:srgbClr val="FBF3D8"/>
          </a:solidFill>
          <a:ln/>
        </p:spPr>
      </p:sp>
      <p:sp>
        <p:nvSpPr>
          <p:cNvPr id="47" name="Text 41"/>
          <p:cNvSpPr/>
          <p:nvPr/>
        </p:nvSpPr>
        <p:spPr>
          <a:xfrm>
            <a:off x="4251960" y="5614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Antithesis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583680" y="5614416"/>
            <a:ext cx="2194560" cy="402336"/>
          </a:xfrm>
          <a:prstGeom prst="roundRect">
            <a:avLst>
              <a:gd name="adj" fmla="val 20455"/>
            </a:avLst>
          </a:prstGeom>
          <a:solidFill>
            <a:srgbClr val="FBF3D8"/>
          </a:solidFill>
          <a:ln/>
        </p:spPr>
      </p:sp>
      <p:sp>
        <p:nvSpPr>
          <p:cNvPr id="49" name="Text 43"/>
          <p:cNvSpPr/>
          <p:nvPr/>
        </p:nvSpPr>
        <p:spPr>
          <a:xfrm>
            <a:off x="6583680" y="5614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拟人 Personification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0896" cy="310896"/>
          </a:xfrm>
          <a:prstGeom prst="ellipse">
            <a:avLst/>
          </a:prstGeom>
          <a:solidFill>
            <a:srgbClr val="191E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489204"/>
            <a:ext cx="155448" cy="155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0352" y="758952"/>
            <a:ext cx="9326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— Which Trap Catches You?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595360" y="795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课堂讨论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444752"/>
            <a:ext cx="11094415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2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664208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6A5C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664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91056" y="1517904"/>
            <a:ext cx="98142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trap catches you more — paralysis of analysis or impulsive decisions?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591056" y="199339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你更容易掉进哪个陷阱——“分析瘫痪”，还是“冲动决定”？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2670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人体晴雨表  HUMAN BAROMETER · 站到最像你的位置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5840" y="3822192"/>
            <a:ext cx="10180015" cy="0"/>
          </a:xfrm>
          <a:prstGeom prst="line">
            <a:avLst/>
          </a:prstGeom>
          <a:noFill/>
          <a:ln w="25400">
            <a:solidFill>
              <a:srgbClr val="DDE2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566160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E3E8F5"/>
          </a:solidFill>
          <a:ln/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35661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分析瘫痪型   </a:t>
            </a:r>
            <a:pPr algn="ctr" indent="0" marL="0">
              <a:buNone/>
            </a:pPr>
            <a:r>
              <a:rPr lang="en-US" sz="10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paralysis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724248" y="3566160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FBF3D8"/>
          </a:solidFill>
          <a:ln/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15688" y="35661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看情况   </a:t>
            </a:r>
            <a:pPr algn="ctr" indent="0" marL="0">
              <a:buNone/>
            </a:pPr>
            <a:r>
              <a:rPr lang="en-US" sz="105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808415" y="3566160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FF6A5C"/>
          </a:solidFill>
          <a:ln/>
          <a:effectLst>
            <a:outerShdw sx="100000" sy="100000" kx="0" ky="0" algn="bl" rotWithShape="0" blurRad="76200" dist="25400" dir="5400000">
              <a:srgbClr val="9AA0B2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99855" y="35661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冲动型   </a:t>
            </a:r>
            <a:pPr algn="ctr" indent="0" marL="0">
              <a:buNone/>
            </a:pPr>
            <a:r>
              <a:rPr lang="en-US" sz="1050" dirty="0">
                <a:solidFill>
                  <a:srgbClr val="F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05840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更犹豫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357055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更冲动 →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17720"/>
            <a:ext cx="7040880" cy="1572768"/>
          </a:xfrm>
          <a:prstGeom prst="roundRect">
            <a:avLst>
              <a:gd name="adj" fmla="val 3488"/>
            </a:avLst>
          </a:prstGeom>
          <a:solidFill>
            <a:srgbClr val="EEF1F8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47183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语言支架  LANGUAGE SUPPORT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" y="5010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发言时至少用上这 3 个词：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04672" y="5321808"/>
            <a:ext cx="1280160" cy="365760"/>
          </a:xfrm>
          <a:prstGeom prst="roundRect">
            <a:avLst>
              <a:gd name="adj" fmla="val 22500"/>
            </a:avLst>
          </a:prstGeom>
          <a:solidFill>
            <a:srgbClr val="FBE9E6"/>
          </a:solidFill>
          <a:ln/>
        </p:spPr>
      </p:sp>
      <p:sp>
        <p:nvSpPr>
          <p:cNvPr id="26" name="Text 23"/>
          <p:cNvSpPr/>
          <p:nvPr/>
        </p:nvSpPr>
        <p:spPr>
          <a:xfrm>
            <a:off x="804672" y="5321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daunting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231136" y="5321808"/>
            <a:ext cx="2651760" cy="365760"/>
          </a:xfrm>
          <a:prstGeom prst="roundRect">
            <a:avLst>
              <a:gd name="adj" fmla="val 22500"/>
            </a:avLst>
          </a:prstGeom>
          <a:solidFill>
            <a:srgbClr val="FBE9E6"/>
          </a:solidFill>
          <a:ln/>
        </p:spPr>
      </p:sp>
      <p:sp>
        <p:nvSpPr>
          <p:cNvPr id="28" name="Text 25"/>
          <p:cNvSpPr/>
          <p:nvPr/>
        </p:nvSpPr>
        <p:spPr>
          <a:xfrm>
            <a:off x="2231136" y="5321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paralysis of analysis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0" y="5321808"/>
            <a:ext cx="1554480" cy="365760"/>
          </a:xfrm>
          <a:prstGeom prst="roundRect">
            <a:avLst>
              <a:gd name="adj" fmla="val 22500"/>
            </a:avLst>
          </a:prstGeom>
          <a:solidFill>
            <a:srgbClr val="FBE9E6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0" y="5321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impulsively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4672" y="5760720"/>
            <a:ext cx="6528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参考句式　</a:t>
            </a:r>
            <a:pPr algn="l" indent="0" marL="0">
              <a:buNone/>
            </a:pPr>
            <a:r>
              <a:rPr lang="en-US" sz="1250" i="1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tend to ___, so I'm more of a(n) ___. For example, ___.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891272" y="4617720"/>
            <a:ext cx="3751783" cy="1572768"/>
          </a:xfrm>
          <a:prstGeom prst="roundRect">
            <a:avLst>
              <a:gd name="adj" fmla="val 3488"/>
            </a:avLst>
          </a:prstGeom>
          <a:solidFill>
            <a:srgbClr val="191E38"/>
          </a:solidFill>
          <a:ln/>
        </p:spPr>
      </p:sp>
      <p:sp>
        <p:nvSpPr>
          <p:cNvPr id="33" name="Text 30"/>
          <p:cNvSpPr/>
          <p:nvPr/>
        </p:nvSpPr>
        <p:spPr>
          <a:xfrm>
            <a:off x="8147304" y="4718304"/>
            <a:ext cx="329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Q2（备选）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147304" y="5029200"/>
            <a:ext cx="32397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could send one message back to your first-month self, what would you rethink?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147304" y="5705856"/>
            <a:ext cx="32397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如果能给开学第一个月的自己带句话，你会重新想清楚什么？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The Weight of Choices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8138160" y="-109728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TAKEAWAY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30352" y="1463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trap is the first step out of it.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999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看清陷阱，就是走出它的第一步。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今日词汇回顾  ·  TODAY'S 5 WORDS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242B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16052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daunting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054096" y="416052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242B4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42976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11296" y="416052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02352" y="416052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242B4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29768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59552" y="4160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impulsively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77316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242B4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10328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773168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paralysis of analysis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3968496" y="4773168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242B49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4910328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425696" y="477316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down on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7071055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Paragraph 3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2026-07-20T09:42:29Z</dcterms:created>
  <dcterms:modified xsi:type="dcterms:W3CDTF">2026-07-20T09:42:29Z</dcterms:modified>
</cp:coreProperties>
</file>